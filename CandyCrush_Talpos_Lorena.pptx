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61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sldSz cx="12192000" cy="6858000"/>
  <p:notesSz cx="6858000" cy="9144000"/>
  <p:defaultTextStyle>
    <a:defPPr>
      <a:defRPr lang="ro-RO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5D16556-8608-89B4-7D39-04668F2F038D}" v="2" dt="2025-12-15T15:04:22.477"/>
    <p1510:client id="{1A40B85B-B29A-CFDE-9093-8280CFBB08AC}" v="481" dt="2025-12-15T14:57:04.644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75" autoAdjust="0"/>
    <p:restoredTop sz="94660"/>
  </p:normalViewPr>
  <p:slideViewPr>
    <p:cSldViewPr snapToGrid="0">
      <p:cViewPr varScale="1">
        <p:scale>
          <a:sx n="86" d="100"/>
          <a:sy n="86" d="100"/>
        </p:scale>
        <p:origin x="666" y="6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microsoft.com/office/2015/10/relationships/revisionInfo" Target="revisionInfo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EB8136-4330-4480-80D9-0F6FD970617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76072" y="1124712"/>
            <a:ext cx="11036808" cy="3172968"/>
          </a:xfrm>
        </p:spPr>
        <p:txBody>
          <a:bodyPr anchor="b">
            <a:normAutofit/>
          </a:bodyPr>
          <a:lstStyle>
            <a:lvl1pPr algn="l">
              <a:defRPr sz="80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66E5739-DD96-45FB-B609-3E3447A52FE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76072" y="4727448"/>
            <a:ext cx="11036808" cy="1481328"/>
          </a:xfrm>
        </p:spPr>
        <p:txBody>
          <a:bodyPr>
            <a:normAutofit/>
          </a:bodyPr>
          <a:lstStyle>
            <a:lvl1pPr marL="0" indent="0" algn="l">
              <a:buNone/>
              <a:defRPr sz="28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B9FF558-51F9-42A2-9944-DBE23DA8B22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576072" y="6356350"/>
            <a:ext cx="2743200" cy="365125"/>
          </a:xfrm>
        </p:spPr>
        <p:txBody>
          <a:bodyPr/>
          <a:lstStyle/>
          <a:p>
            <a:fld id="{02AC24A9-CCB6-4F8D-B8DB-C2F3692CFA5A}" type="datetimeFigureOut">
              <a:rPr lang="en-US" smtClean="0"/>
              <a:t>12/15/2025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B8C0E86-A7F7-4BDC-A637-254E5252DED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3D10ADE-E9DA-4E57-BF57-1CCB652198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869680" y="6356350"/>
            <a:ext cx="2743200" cy="365125"/>
          </a:xfrm>
        </p:spPr>
        <p:txBody>
          <a:bodyPr/>
          <a:lstStyle/>
          <a:p>
            <a:fld id="{B2DC25EE-239B-4C5F-AAD1-255A7D5F1EE2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8D06CE56-3881-4ADA-8CEF-D18B02C242A3}"/>
              </a:ext>
            </a:extLst>
          </p:cNvPr>
          <p:cNvSpPr/>
          <p:nvPr/>
        </p:nvSpPr>
        <p:spPr>
          <a:xfrm rot="5400000">
            <a:off x="857544" y="346791"/>
            <a:ext cx="146304" cy="70408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79F3C543-62EC-4433-9C93-A2CD8764E9B4}"/>
              </a:ext>
            </a:extLst>
          </p:cNvPr>
          <p:cNvSpPr/>
          <p:nvPr/>
        </p:nvSpPr>
        <p:spPr>
          <a:xfrm flipV="1">
            <a:off x="578652" y="4501201"/>
            <a:ext cx="11034696" cy="18288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1025718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2D6FBB9D-1CAA-4D05-AB33-BABDFE17B843}"/>
              </a:ext>
            </a:extLst>
          </p:cNvPr>
          <p:cNvSpPr/>
          <p:nvPr/>
        </p:nvSpPr>
        <p:spPr>
          <a:xfrm>
            <a:off x="558209" y="0"/>
            <a:ext cx="11167447" cy="2018806"/>
          </a:xfrm>
          <a:prstGeom prst="rect">
            <a:avLst/>
          </a:prstGeom>
          <a:ln w="9525">
            <a:solidFill>
              <a:schemeClr val="tx2">
                <a:lumMod val="10000"/>
                <a:lumOff val="90000"/>
              </a:schemeClr>
            </a:solidFill>
          </a:ln>
          <a:effectLst>
            <a:outerShdw blurRad="50800" dist="38100" dir="2700000" algn="tl" rotWithShape="0">
              <a:schemeClr val="bg1">
                <a:lumMod val="85000"/>
                <a:alpha val="3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04727B71-B4B6-4823-80A1-68C40B475118}"/>
              </a:ext>
            </a:extLst>
          </p:cNvPr>
          <p:cNvSpPr/>
          <p:nvPr/>
        </p:nvSpPr>
        <p:spPr>
          <a:xfrm>
            <a:off x="566928" y="0"/>
            <a:ext cx="11155680" cy="2011680"/>
          </a:xfrm>
          <a:prstGeom prst="rect">
            <a:avLst/>
          </a:prstGeom>
          <a:ln w="952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79A6DB05-9FB5-4B07-8675-74C23D4FD89D}"/>
              </a:ext>
            </a:extLst>
          </p:cNvPr>
          <p:cNvSpPr/>
          <p:nvPr/>
        </p:nvSpPr>
        <p:spPr>
          <a:xfrm>
            <a:off x="498834" y="787352"/>
            <a:ext cx="128016" cy="70408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8D358CF-0758-490A-A084-C46443B9ABE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15568" y="548640"/>
            <a:ext cx="10168128" cy="1179576"/>
          </a:xfrm>
        </p:spPr>
        <p:txBody>
          <a:bodyPr>
            <a:normAutofit/>
          </a:bodyPr>
          <a:lstStyle>
            <a:lvl1pPr>
              <a:defRPr sz="40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1671183-B3CE-4F45-92FB-98290CA0E2C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15568" y="2478024"/>
            <a:ext cx="10168128" cy="3694176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D7DED67-27EC-4D43-A21C-093C1DB0481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115568" y="6356350"/>
            <a:ext cx="2743200" cy="365125"/>
          </a:xfrm>
        </p:spPr>
        <p:txBody>
          <a:bodyPr/>
          <a:lstStyle/>
          <a:p>
            <a:fld id="{02AC24A9-CCB6-4F8D-B8DB-C2F3692CFA5A}" type="datetimeFigureOut">
              <a:rPr lang="en-US" smtClean="0"/>
              <a:t>12/15/2025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6747CE3-4890-4BC1-94DB-5D49D02C99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93C5AD3-D79A-4D46-B25B-822FE02525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540496" y="6356350"/>
            <a:ext cx="2743200" cy="365125"/>
          </a:xfrm>
        </p:spPr>
        <p:txBody>
          <a:bodyPr/>
          <a:lstStyle/>
          <a:p>
            <a:fld id="{B2DC25EE-239B-4C5F-AAD1-255A7D5F1EE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532815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85AEDC5C-2E87-49C6-AB07-A95E5F39ED8E}"/>
              </a:ext>
            </a:extLst>
          </p:cNvPr>
          <p:cNvSpPr/>
          <p:nvPr/>
        </p:nvSpPr>
        <p:spPr>
          <a:xfrm>
            <a:off x="558210" y="4981421"/>
            <a:ext cx="11134956" cy="822960"/>
          </a:xfrm>
          <a:prstGeom prst="rect">
            <a:avLst/>
          </a:prstGeom>
          <a:ln w="12700">
            <a:solidFill>
              <a:schemeClr val="tx2">
                <a:lumMod val="10000"/>
                <a:lumOff val="90000"/>
              </a:schemeClr>
            </a:solidFill>
          </a:ln>
          <a:effectLst>
            <a:outerShdw blurRad="50800" dist="38100" dir="2700000" algn="tl" rotWithShape="0">
              <a:schemeClr val="bg1">
                <a:lumMod val="85000"/>
                <a:alpha val="3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A57D88DE-E462-4C8A-BF99-609390DFB781}"/>
              </a:ext>
            </a:extLst>
          </p:cNvPr>
          <p:cNvSpPr/>
          <p:nvPr/>
        </p:nvSpPr>
        <p:spPr>
          <a:xfrm>
            <a:off x="498834" y="5118581"/>
            <a:ext cx="146304" cy="54864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8E44900-E8BF-4B12-8BCB-41076E2B68C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7784" y="640080"/>
            <a:ext cx="10890504" cy="4114800"/>
          </a:xfrm>
        </p:spPr>
        <p:txBody>
          <a:bodyPr anchor="b">
            <a:normAutofit/>
          </a:bodyPr>
          <a:lstStyle>
            <a:lvl1pPr>
              <a:defRPr sz="66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17741F9-B00F-4463-A257-6B66DABD9B4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41248" y="5102352"/>
            <a:ext cx="10607040" cy="585216"/>
          </a:xfrm>
        </p:spPr>
        <p:txBody>
          <a:bodyPr anchor="ctr">
            <a:normAutofit/>
          </a:bodyPr>
          <a:lstStyle>
            <a:lvl1pPr marL="0" indent="0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48BFA7D-4401-4285-802B-1579165F0D6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AC24A9-CCB6-4F8D-B8DB-C2F3692CFA5A}" type="datetimeFigureOut">
              <a:rPr lang="en-US" smtClean="0"/>
              <a:t>12/15/2025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9A909C5-AA19-4195-8376-9002D5DF465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3AC3F32-46E0-47C8-8565-5969A475FD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DC25EE-239B-4C5F-AAD1-255A7D5F1EE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5203937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2076262E-36A0-40C6-ADE6-90CD9FB9B9EA}"/>
              </a:ext>
            </a:extLst>
          </p:cNvPr>
          <p:cNvSpPr/>
          <p:nvPr/>
        </p:nvSpPr>
        <p:spPr>
          <a:xfrm>
            <a:off x="558209" y="0"/>
            <a:ext cx="11167447" cy="2018806"/>
          </a:xfrm>
          <a:prstGeom prst="rect">
            <a:avLst/>
          </a:prstGeom>
          <a:ln w="9525">
            <a:solidFill>
              <a:schemeClr val="tx2">
                <a:lumMod val="10000"/>
                <a:lumOff val="90000"/>
              </a:schemeClr>
            </a:solidFill>
          </a:ln>
          <a:effectLst>
            <a:outerShdw blurRad="50800" dist="38100" dir="2700000" algn="tl" rotWithShape="0">
              <a:schemeClr val="bg1">
                <a:lumMod val="85000"/>
                <a:alpha val="3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 useBgFill="1">
        <p:nvSpPr>
          <p:cNvPr id="11" name="Rectangle 10">
            <a:extLst>
              <a:ext uri="{FF2B5EF4-FFF2-40B4-BE49-F238E27FC236}">
                <a16:creationId xmlns:a16="http://schemas.microsoft.com/office/drawing/2014/main" id="{42677A9B-4D1D-4D80-912C-24570140A650}"/>
              </a:ext>
            </a:extLst>
          </p:cNvPr>
          <p:cNvSpPr/>
          <p:nvPr/>
        </p:nvSpPr>
        <p:spPr>
          <a:xfrm>
            <a:off x="566928" y="0"/>
            <a:ext cx="11155680" cy="2011680"/>
          </a:xfrm>
          <a:prstGeom prst="rect">
            <a:avLst/>
          </a:prstGeom>
          <a:ln w="952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03DC8C98-510F-48C9-82B2-9E4F760A68DF}"/>
              </a:ext>
            </a:extLst>
          </p:cNvPr>
          <p:cNvSpPr/>
          <p:nvPr/>
        </p:nvSpPr>
        <p:spPr>
          <a:xfrm>
            <a:off x="498834" y="787352"/>
            <a:ext cx="128016" cy="70408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7A078AE-0BC3-48F9-87EC-2DB0CCE7E2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15568" y="548640"/>
            <a:ext cx="10168128" cy="1179576"/>
          </a:xfrm>
        </p:spPr>
        <p:txBody>
          <a:bodyPr>
            <a:normAutofit/>
          </a:bodyPr>
          <a:lstStyle>
            <a:lvl1pPr>
              <a:defRPr sz="40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92A20DF-0829-4336-B59F-FF9D7AA9D8B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1115568" y="2478024"/>
            <a:ext cx="4937760" cy="3694176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935D01C-CF67-4DF6-B96C-FFC9D5BF847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345936" y="2478024"/>
            <a:ext cx="4937760" cy="3694176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9BBD797-6031-4F82-8726-EAB757027FF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115568" y="6356350"/>
            <a:ext cx="2743200" cy="365125"/>
          </a:xfrm>
        </p:spPr>
        <p:txBody>
          <a:bodyPr/>
          <a:lstStyle/>
          <a:p>
            <a:fld id="{02AC24A9-CCB6-4F8D-B8DB-C2F3692CFA5A}" type="datetimeFigureOut">
              <a:rPr lang="en-US" smtClean="0"/>
              <a:t>12/15/2025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6B3F71C-B897-4909-A75E-8716AD49C1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F78BC14-5BB1-405F-A6F3-C07230F085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540496" y="6356350"/>
            <a:ext cx="2743200" cy="365125"/>
          </a:xfrm>
        </p:spPr>
        <p:txBody>
          <a:bodyPr/>
          <a:lstStyle/>
          <a:p>
            <a:fld id="{B2DC25EE-239B-4C5F-AAD1-255A7D5F1EE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8955839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1" name="Rectangle 10">
            <a:extLst>
              <a:ext uri="{FF2B5EF4-FFF2-40B4-BE49-F238E27FC236}">
                <a16:creationId xmlns:a16="http://schemas.microsoft.com/office/drawing/2014/main" id="{6B671BDE-E45C-41A1-9B98-4A607D703855}"/>
              </a:ext>
            </a:extLst>
          </p:cNvPr>
          <p:cNvSpPr/>
          <p:nvPr/>
        </p:nvSpPr>
        <p:spPr>
          <a:xfrm>
            <a:off x="558209" y="0"/>
            <a:ext cx="11167447" cy="2018806"/>
          </a:xfrm>
          <a:prstGeom prst="rect">
            <a:avLst/>
          </a:prstGeom>
          <a:ln w="9525">
            <a:solidFill>
              <a:schemeClr val="tx2">
                <a:lumMod val="10000"/>
                <a:lumOff val="90000"/>
              </a:schemeClr>
            </a:solidFill>
          </a:ln>
          <a:effectLst>
            <a:outerShdw blurRad="50800" dist="38100" dir="2700000" algn="tl" rotWithShape="0">
              <a:schemeClr val="bg1">
                <a:lumMod val="85000"/>
                <a:alpha val="3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 useBgFill="1">
        <p:nvSpPr>
          <p:cNvPr id="13" name="Rectangle 12">
            <a:extLst>
              <a:ext uri="{FF2B5EF4-FFF2-40B4-BE49-F238E27FC236}">
                <a16:creationId xmlns:a16="http://schemas.microsoft.com/office/drawing/2014/main" id="{299500CE-917A-4D03-A7DF-71D8EBBC1537}"/>
              </a:ext>
            </a:extLst>
          </p:cNvPr>
          <p:cNvSpPr/>
          <p:nvPr/>
        </p:nvSpPr>
        <p:spPr>
          <a:xfrm>
            <a:off x="566928" y="0"/>
            <a:ext cx="11155680" cy="2011680"/>
          </a:xfrm>
          <a:prstGeom prst="rect">
            <a:avLst/>
          </a:prstGeom>
          <a:ln w="952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C3D0D377-28B0-417D-886B-9483AF064975}"/>
              </a:ext>
            </a:extLst>
          </p:cNvPr>
          <p:cNvSpPr/>
          <p:nvPr/>
        </p:nvSpPr>
        <p:spPr>
          <a:xfrm>
            <a:off x="498834" y="787352"/>
            <a:ext cx="128016" cy="70408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F8F91F8-0767-40B5-A3AA-72931FC192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15568" y="548640"/>
            <a:ext cx="10168128" cy="1179576"/>
          </a:xfrm>
        </p:spPr>
        <p:txBody>
          <a:bodyPr>
            <a:normAutofit/>
          </a:bodyPr>
          <a:lstStyle>
            <a:lvl1pPr>
              <a:defRPr sz="40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AAE0554-8BEE-4BF6-9519-51B8475D35E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115568" y="2372650"/>
            <a:ext cx="4937760" cy="823912"/>
          </a:xfrm>
        </p:spPr>
        <p:txBody>
          <a:bodyPr anchor="b"/>
          <a:lstStyle>
            <a:lvl1pPr marL="0" indent="0">
              <a:buNone/>
              <a:defRPr sz="2400" b="1" cap="none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D4A358D-C930-48E0-B372-06A826B74C4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1115568" y="3203688"/>
            <a:ext cx="4937760" cy="2968512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3B6615E-4966-4150-83B6-C47591B3638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345936" y="2372650"/>
            <a:ext cx="4937760" cy="823912"/>
          </a:xfrm>
        </p:spPr>
        <p:txBody>
          <a:bodyPr anchor="b"/>
          <a:lstStyle>
            <a:lvl1pPr marL="0" indent="0">
              <a:buNone/>
              <a:defRPr sz="2400" b="1" cap="none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D409F6B-C17B-4B4F-9F35-5068BDC4E2F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345936" y="3203687"/>
            <a:ext cx="4937760" cy="2968511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C8BC356D-052B-4A9B-8B2F-6665FD325AB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115568" y="6356350"/>
            <a:ext cx="2743200" cy="365125"/>
          </a:xfrm>
        </p:spPr>
        <p:txBody>
          <a:bodyPr/>
          <a:lstStyle/>
          <a:p>
            <a:fld id="{02AC24A9-CCB6-4F8D-B8DB-C2F3692CFA5A}" type="datetimeFigureOut">
              <a:rPr lang="en-US" smtClean="0"/>
              <a:t>12/15/2025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69C5E5FA-26A9-467C-93E3-8476142D1D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279E50C-1E40-4B48-871B-E392428D20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540496" y="6356350"/>
            <a:ext cx="2743200" cy="365125"/>
          </a:xfrm>
        </p:spPr>
        <p:txBody>
          <a:bodyPr/>
          <a:lstStyle/>
          <a:p>
            <a:fld id="{B2DC25EE-239B-4C5F-AAD1-255A7D5F1EE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150321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7" name="Rectangle 6">
            <a:extLst>
              <a:ext uri="{FF2B5EF4-FFF2-40B4-BE49-F238E27FC236}">
                <a16:creationId xmlns:a16="http://schemas.microsoft.com/office/drawing/2014/main" id="{8C0689C4-0DB3-408B-A956-40326B4AE4C4}"/>
              </a:ext>
            </a:extLst>
          </p:cNvPr>
          <p:cNvSpPr/>
          <p:nvPr/>
        </p:nvSpPr>
        <p:spPr>
          <a:xfrm>
            <a:off x="665853" y="1533525"/>
            <a:ext cx="10917063" cy="3790950"/>
          </a:xfrm>
          <a:prstGeom prst="rect">
            <a:avLst/>
          </a:prstGeom>
          <a:ln w="12700">
            <a:solidFill>
              <a:schemeClr val="tx2">
                <a:lumMod val="10000"/>
                <a:lumOff val="90000"/>
              </a:schemeClr>
            </a:solidFill>
          </a:ln>
          <a:effectLst>
            <a:outerShdw blurRad="50800" dist="38100" dir="2700000" algn="tl" rotWithShape="0">
              <a:schemeClr val="bg2">
                <a:lumMod val="85000"/>
                <a:alpha val="3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56E1D10E-1C30-41BF-8C3B-C460C9B5597B}"/>
              </a:ext>
            </a:extLst>
          </p:cNvPr>
          <p:cNvSpPr/>
          <p:nvPr/>
        </p:nvSpPr>
        <p:spPr>
          <a:xfrm>
            <a:off x="609084" y="2971798"/>
            <a:ext cx="128016" cy="9144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79454F2-0EE5-4888-AF4C-82F825E6226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78992" y="1938528"/>
            <a:ext cx="10177272" cy="2990088"/>
          </a:xfrm>
        </p:spPr>
        <p:txBody>
          <a:bodyPr>
            <a:normAutofit/>
          </a:bodyPr>
          <a:lstStyle>
            <a:lvl1pPr>
              <a:defRPr sz="5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7C91241-A315-4643-91E5-CF2C25CC90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AC24A9-CCB6-4F8D-B8DB-C2F3692CFA5A}" type="datetimeFigureOut">
              <a:rPr lang="en-US" smtClean="0"/>
              <a:t>12/15/2025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2706D86-5479-487D-94C8-76093D84F3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7739411-CED6-43D4-868D-A65C4161A7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DC25EE-239B-4C5F-AAD1-255A7D5F1EE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6647665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EAC447E0-1D4D-4EF2-B81B-4B2400EE3E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AC24A9-CCB6-4F8D-B8DB-C2F3692CFA5A}" type="datetimeFigureOut">
              <a:rPr lang="en-US" smtClean="0"/>
              <a:t>12/15/2025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9984CA0-2A78-4600-9F3D-19B09E790F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8440955-B18E-49D3-AE7B-B331200E34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DC25EE-239B-4C5F-AAD1-255A7D5F1EE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201701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1FA417FE-CD1A-486F-A4AC-E4000A2FB18E}"/>
              </a:ext>
            </a:extLst>
          </p:cNvPr>
          <p:cNvSpPr/>
          <p:nvPr/>
        </p:nvSpPr>
        <p:spPr>
          <a:xfrm>
            <a:off x="558210" y="1162033"/>
            <a:ext cx="3740740" cy="4643344"/>
          </a:xfrm>
          <a:prstGeom prst="rect">
            <a:avLst/>
          </a:prstGeom>
          <a:ln w="12700">
            <a:solidFill>
              <a:schemeClr val="tx2">
                <a:lumMod val="10000"/>
                <a:lumOff val="90000"/>
              </a:schemeClr>
            </a:solidFill>
          </a:ln>
          <a:effectLst>
            <a:outerShdw blurRad="50800" dist="38100" dir="2700000" algn="tl" rotWithShape="0">
              <a:schemeClr val="bg1">
                <a:lumMod val="85000"/>
                <a:alpha val="3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1318F0F5-812B-472C-9408-B80F2553F5E0}"/>
              </a:ext>
            </a:extLst>
          </p:cNvPr>
          <p:cNvSpPr/>
          <p:nvPr/>
        </p:nvSpPr>
        <p:spPr>
          <a:xfrm>
            <a:off x="498834" y="1618375"/>
            <a:ext cx="146304" cy="82296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7F7751B-CD8F-4F5B-A903-1DCE5D1E830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68680" y="1709928"/>
            <a:ext cx="3099816" cy="1709928"/>
          </a:xfrm>
        </p:spPr>
        <p:txBody>
          <a:bodyPr tIns="45720" anchor="t">
            <a:normAutofit/>
          </a:bodyPr>
          <a:lstStyle>
            <a:lvl1pPr>
              <a:lnSpc>
                <a:spcPct val="100000"/>
              </a:lnSpc>
              <a:defRPr sz="3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FA55C8A-A0BB-441D-976F-EB56D4382DB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965192" y="1709928"/>
            <a:ext cx="6729984" cy="4096512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7DE6A51-A2E5-4BFA-B571-9FDFE1BBFB4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68680" y="3429000"/>
            <a:ext cx="3099816" cy="2066544"/>
          </a:xfrm>
        </p:spPr>
        <p:txBody>
          <a:bodyPr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D92778A-DD4C-4651-9C53-8B0C44CD880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68680" y="6356350"/>
            <a:ext cx="2743200" cy="365125"/>
          </a:xfrm>
        </p:spPr>
        <p:txBody>
          <a:bodyPr/>
          <a:lstStyle/>
          <a:p>
            <a:fld id="{02AC24A9-CCB6-4F8D-B8DB-C2F3692CFA5A}" type="datetimeFigureOut">
              <a:rPr lang="en-US" smtClean="0"/>
              <a:t>12/15/2025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D6C7F66-2DFA-4146-BE1A-CE2890FE45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285D185-B1B6-4D62-81BE-BE82C80ACA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DC25EE-239B-4C5F-AAD1-255A7D5F1EE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8499446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168B77B5-211C-456E-B79F-306CC3619347}"/>
              </a:ext>
            </a:extLst>
          </p:cNvPr>
          <p:cNvSpPr/>
          <p:nvPr/>
        </p:nvSpPr>
        <p:spPr>
          <a:xfrm>
            <a:off x="558210" y="1162033"/>
            <a:ext cx="3740740" cy="4643344"/>
          </a:xfrm>
          <a:prstGeom prst="rect">
            <a:avLst/>
          </a:prstGeom>
          <a:ln w="12700">
            <a:solidFill>
              <a:schemeClr val="tx2">
                <a:lumMod val="10000"/>
                <a:lumOff val="90000"/>
              </a:schemeClr>
            </a:solidFill>
          </a:ln>
          <a:effectLst>
            <a:outerShdw blurRad="50800" dist="38100" dir="2700000" algn="tl" rotWithShape="0">
              <a:schemeClr val="bg1">
                <a:lumMod val="85000"/>
                <a:alpha val="3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3B63C338-194D-4F23-ABEC-60A7EA96F302}"/>
              </a:ext>
            </a:extLst>
          </p:cNvPr>
          <p:cNvSpPr/>
          <p:nvPr/>
        </p:nvSpPr>
        <p:spPr>
          <a:xfrm>
            <a:off x="498834" y="1618375"/>
            <a:ext cx="146304" cy="82296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0C04DCC-0E3E-4F05-9FAC-9FA6CA4B2B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68680" y="1709928"/>
            <a:ext cx="3099816" cy="1709928"/>
          </a:xfrm>
        </p:spPr>
        <p:txBody>
          <a:bodyPr tIns="45720" anchor="t">
            <a:normAutofit/>
          </a:bodyPr>
          <a:lstStyle>
            <a:lvl1pPr>
              <a:lnSpc>
                <a:spcPct val="100000"/>
              </a:lnSpc>
              <a:defRPr sz="3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EBA29649-B19F-499E-8E9A-3577EAC8F03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4965192" y="1161288"/>
            <a:ext cx="6729984" cy="4645152"/>
          </a:xfrm>
        </p:spPr>
        <p:txBody>
          <a:bodyPr>
            <a:normAutofit/>
          </a:bodyPr>
          <a:lstStyle>
            <a:lvl1pPr marL="0" indent="0">
              <a:buNone/>
              <a:defRPr sz="28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BC9EF2E-A8CD-41A1-B11A-0D8842797A9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68680" y="3438144"/>
            <a:ext cx="3099816" cy="2057400"/>
          </a:xfrm>
        </p:spPr>
        <p:txBody>
          <a:bodyPr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44257B5-0DE0-401F-9171-E8687A97DBA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68680" y="6356350"/>
            <a:ext cx="2743200" cy="365125"/>
          </a:xfrm>
        </p:spPr>
        <p:txBody>
          <a:bodyPr/>
          <a:lstStyle/>
          <a:p>
            <a:fld id="{02AC24A9-CCB6-4F8D-B8DB-C2F3692CFA5A}" type="datetimeFigureOut">
              <a:rPr lang="en-US" smtClean="0"/>
              <a:t>12/15/2025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88CD9AD-D667-4FD4-AA34-428AA0BCD0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8770FB6-F273-4BA6-8B97-9835AC5378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DC25EE-239B-4C5F-AAD1-255A7D5F1EE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9375863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B32C18-E430-4EC7-BD7C-99D86D0122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FC5012F-7119-4D94-9717-3862E1C9384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9ED9A4A-D287-4207-9037-70DB007A170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AC24A9-CCB6-4F8D-B8DB-C2F3692CFA5A}" type="datetimeFigureOut">
              <a:rPr lang="en-US" smtClean="0"/>
              <a:t>12/15/2025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1ECFCAC-80DB-43BB-B3F1-AC22BACEE3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7679730-3487-4D94-A0DC-C21684963A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DC25EE-239B-4C5F-AAD1-255A7D5F1EE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5158679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B543C89D-929E-4CD1-BCCC-72A14C0335D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ED450EA-A577-4B76-A12F-650BEB20FD8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1D2603B-9ACE-4FA9-805B-9B91EB63DF7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AC24A9-CCB6-4F8D-B8DB-C2F3692CFA5A}" type="datetimeFigureOut">
              <a:rPr lang="en-US" smtClean="0"/>
              <a:t>12/15/2025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ECE18AC-D6A9-4A61-885D-68E2B684A4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5197AE4-AA47-4E14-8FFE-171FAE47F4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DC25EE-239B-4C5F-AAD1-255A7D5F1EE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9468454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B325BDE-35A4-4AAD-960B-C1415864AD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E459C78-0CC4-4552-93DD-49B4194D005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6744A3C-9C54-46A6-B3EF-5B36362423E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2AC24A9-CCB6-4F8D-B8DB-C2F3692CFA5A}" type="datetimeFigureOut">
              <a:rPr lang="en-US" smtClean="0"/>
              <a:t>12/15/2025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7D5A696-7B4B-4181-A961-7D66556D507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3038CB5-8F4A-401D-A3A9-B27DC15B7A8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2DC25EE-239B-4C5F-AAD1-255A7D5F1EE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4119933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56" r:id="rId1"/>
    <p:sldLayoutId id="2147483757" r:id="rId2"/>
    <p:sldLayoutId id="2147483758" r:id="rId3"/>
    <p:sldLayoutId id="2147483759" r:id="rId4"/>
    <p:sldLayoutId id="2147483760" r:id="rId5"/>
    <p:sldLayoutId id="2147483754" r:id="rId6"/>
    <p:sldLayoutId id="2147483750" r:id="rId7"/>
    <p:sldLayoutId id="2147483751" r:id="rId8"/>
    <p:sldLayoutId id="2147483752" r:id="rId9"/>
    <p:sldLayoutId id="2147483753" r:id="rId10"/>
    <p:sldLayoutId id="2147483755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000" b="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10000"/>
        </a:lnSpc>
        <a:spcBef>
          <a:spcPts val="1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33E93247-6229-44AB-A550-739E971E690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venir Next LT Pro"/>
              <a:ea typeface="+mn-ea"/>
              <a:cs typeface="+mn-cs"/>
            </a:endParaRP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EE2E603F-4A95-4FE8-BB06-211DFD75DBE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723900"/>
            <a:ext cx="1638300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" name="Picture 3">
            <a:extLst>
              <a:ext uri="{FF2B5EF4-FFF2-40B4-BE49-F238E27FC236}">
                <a16:creationId xmlns:a16="http://schemas.microsoft.com/office/drawing/2014/main" id="{E4940E82-C34F-9B6A-3E20-CD7C1549D44B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1111"/>
          <a:stretch>
            <a:fillRect/>
          </a:stretch>
        </p:blipFill>
        <p:spPr>
          <a:xfrm>
            <a:off x="20" y="10"/>
            <a:ext cx="12191979" cy="6857990"/>
          </a:xfrm>
          <a:prstGeom prst="rect">
            <a:avLst/>
          </a:prstGeom>
        </p:spPr>
      </p:pic>
      <p:sp>
        <p:nvSpPr>
          <p:cNvPr id="13" name="Rectangle 12">
            <a:extLst>
              <a:ext uri="{FF2B5EF4-FFF2-40B4-BE49-F238E27FC236}">
                <a16:creationId xmlns:a16="http://schemas.microsoft.com/office/drawing/2014/main" id="{8D19661F-4B4C-74C1-7FC3-31FB14D49FE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166955" y="-166956"/>
            <a:ext cx="6858002" cy="7191913"/>
          </a:xfrm>
          <a:prstGeom prst="rect">
            <a:avLst/>
          </a:prstGeom>
          <a:gradFill>
            <a:gsLst>
              <a:gs pos="0">
                <a:schemeClr val="bg1">
                  <a:alpha val="0"/>
                </a:schemeClr>
              </a:gs>
              <a:gs pos="46000">
                <a:schemeClr val="bg1">
                  <a:alpha val="55000"/>
                </a:schemeClr>
              </a:gs>
              <a:gs pos="25000">
                <a:schemeClr val="bg1">
                  <a:alpha val="38000"/>
                </a:schemeClr>
              </a:gs>
              <a:gs pos="100000">
                <a:schemeClr val="bg1">
                  <a:alpha val="60000"/>
                </a:schemeClr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venir Next LT Pro"/>
              <a:ea typeface="+mn-ea"/>
              <a:cs typeface="+mn-cs"/>
            </a:endParaRPr>
          </a:p>
        </p:txBody>
      </p:sp>
      <p:sp>
        <p:nvSpPr>
          <p:cNvPr id="2" name="Titlu 1"/>
          <p:cNvSpPr>
            <a:spLocks noGrp="1"/>
          </p:cNvSpPr>
          <p:nvPr>
            <p:ph type="ctrTitle"/>
          </p:nvPr>
        </p:nvSpPr>
        <p:spPr>
          <a:xfrm>
            <a:off x="1414940" y="310520"/>
            <a:ext cx="4023360" cy="3200400"/>
          </a:xfrm>
        </p:spPr>
        <p:txBody>
          <a:bodyPr anchor="b">
            <a:normAutofit/>
          </a:bodyPr>
          <a:lstStyle/>
          <a:p>
            <a:r>
              <a:rPr lang="ro-RO" sz="4800" dirty="0" err="1"/>
              <a:t>Candy</a:t>
            </a:r>
            <a:r>
              <a:rPr lang="ro-RO" sz="4800" dirty="0"/>
              <a:t> </a:t>
            </a:r>
            <a:r>
              <a:rPr lang="ro-RO" sz="4800" dirty="0" err="1"/>
              <a:t>Crush</a:t>
            </a:r>
          </a:p>
        </p:txBody>
      </p:sp>
      <p:sp>
        <p:nvSpPr>
          <p:cNvPr id="3" name="Subtitlu 2"/>
          <p:cNvSpPr>
            <a:spLocks noGrp="1"/>
          </p:cNvSpPr>
          <p:nvPr>
            <p:ph type="subTitle" idx="1"/>
          </p:nvPr>
        </p:nvSpPr>
        <p:spPr>
          <a:xfrm>
            <a:off x="-4676" y="6376875"/>
            <a:ext cx="4023360" cy="1207008"/>
          </a:xfrm>
        </p:spPr>
        <p:txBody>
          <a:bodyPr anchor="t">
            <a:normAutofit/>
          </a:bodyPr>
          <a:lstStyle/>
          <a:p>
            <a:r>
              <a:rPr lang="ro-RO" sz="2000" dirty="0"/>
              <a:t>Talpoș Lorena Daiana</a:t>
            </a:r>
          </a:p>
          <a:p>
            <a:endParaRPr lang="ro-RO" sz="2000" dirty="0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2165A4AE-FFE9-B2D5-017C-17337DDB3F3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759921" y="346791"/>
            <a:ext cx="146304" cy="70408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499791184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1C799903-48D5-4A31-A1A2-541072D9771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10" name="Freeform: Shape 9">
            <a:extLst>
              <a:ext uri="{FF2B5EF4-FFF2-40B4-BE49-F238E27FC236}">
                <a16:creationId xmlns:a16="http://schemas.microsoft.com/office/drawing/2014/main" id="{8EFFF109-FC58-4FD3-BE05-9775A1310F5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1" y="0"/>
            <a:ext cx="4818889" cy="6858000"/>
          </a:xfrm>
          <a:custGeom>
            <a:avLst/>
            <a:gdLst>
              <a:gd name="connsiteX0" fmla="*/ 0 w 4818889"/>
              <a:gd name="connsiteY0" fmla="*/ 0 h 6858000"/>
              <a:gd name="connsiteX1" fmla="*/ 3605911 w 4818889"/>
              <a:gd name="connsiteY1" fmla="*/ 0 h 6858000"/>
              <a:gd name="connsiteX2" fmla="*/ 3668894 w 4818889"/>
              <a:gd name="connsiteY2" fmla="*/ 69271 h 6858000"/>
              <a:gd name="connsiteX3" fmla="*/ 4818889 w 4818889"/>
              <a:gd name="connsiteY3" fmla="*/ 3429000 h 6858000"/>
              <a:gd name="connsiteX4" fmla="*/ 3668894 w 4818889"/>
              <a:gd name="connsiteY4" fmla="*/ 6788730 h 6858000"/>
              <a:gd name="connsiteX5" fmla="*/ 3605911 w 4818889"/>
              <a:gd name="connsiteY5" fmla="*/ 6858000 h 6858000"/>
              <a:gd name="connsiteX6" fmla="*/ 0 w 4818889"/>
              <a:gd name="connsiteY6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818889" h="6858000">
                <a:moveTo>
                  <a:pt x="0" y="0"/>
                </a:moveTo>
                <a:lnTo>
                  <a:pt x="3605911" y="0"/>
                </a:lnTo>
                <a:lnTo>
                  <a:pt x="3668894" y="69271"/>
                </a:lnTo>
                <a:cubicBezTo>
                  <a:pt x="4379420" y="929100"/>
                  <a:pt x="4818889" y="2116944"/>
                  <a:pt x="4818889" y="3429000"/>
                </a:cubicBezTo>
                <a:cubicBezTo>
                  <a:pt x="4818889" y="4741056"/>
                  <a:pt x="4379420" y="5928900"/>
                  <a:pt x="3668894" y="6788730"/>
                </a:cubicBezTo>
                <a:lnTo>
                  <a:pt x="3605911" y="6858000"/>
                </a:lnTo>
                <a:lnTo>
                  <a:pt x="0" y="6858000"/>
                </a:lnTo>
                <a:close/>
              </a:path>
            </a:pathLst>
          </a:custGeom>
          <a:ln w="9525">
            <a:solidFill>
              <a:schemeClr val="tx2">
                <a:lumMod val="10000"/>
                <a:lumOff val="90000"/>
              </a:schemeClr>
            </a:solidFill>
          </a:ln>
          <a:effectLst>
            <a:outerShdw blurRad="50800" dist="38100" algn="l" rotWithShape="0">
              <a:schemeClr val="bg1">
                <a:lumMod val="85000"/>
                <a:alpha val="3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 useBgFill="1">
        <p:nvSpPr>
          <p:cNvPr id="12" name="Freeform: Shape 11">
            <a:extLst>
              <a:ext uri="{FF2B5EF4-FFF2-40B4-BE49-F238E27FC236}">
                <a16:creationId xmlns:a16="http://schemas.microsoft.com/office/drawing/2014/main" id="{E1B96AD6-92A9-4273-A62B-96A1C3E0BA9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0"/>
            <a:ext cx="4811477" cy="6858000"/>
          </a:xfrm>
          <a:custGeom>
            <a:avLst/>
            <a:gdLst>
              <a:gd name="connsiteX0" fmla="*/ 0 w 4811477"/>
              <a:gd name="connsiteY0" fmla="*/ 0 h 6858000"/>
              <a:gd name="connsiteX1" fmla="*/ 3598499 w 4811477"/>
              <a:gd name="connsiteY1" fmla="*/ 0 h 6858000"/>
              <a:gd name="connsiteX2" fmla="*/ 3661482 w 4811477"/>
              <a:gd name="connsiteY2" fmla="*/ 69271 h 6858000"/>
              <a:gd name="connsiteX3" fmla="*/ 4811477 w 4811477"/>
              <a:gd name="connsiteY3" fmla="*/ 3429000 h 6858000"/>
              <a:gd name="connsiteX4" fmla="*/ 3661482 w 4811477"/>
              <a:gd name="connsiteY4" fmla="*/ 6788730 h 6858000"/>
              <a:gd name="connsiteX5" fmla="*/ 3598499 w 4811477"/>
              <a:gd name="connsiteY5" fmla="*/ 6858000 h 6858000"/>
              <a:gd name="connsiteX6" fmla="*/ 0 w 4811477"/>
              <a:gd name="connsiteY6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811477" h="6858000">
                <a:moveTo>
                  <a:pt x="0" y="0"/>
                </a:moveTo>
                <a:lnTo>
                  <a:pt x="3598499" y="0"/>
                </a:lnTo>
                <a:lnTo>
                  <a:pt x="3661482" y="69271"/>
                </a:lnTo>
                <a:cubicBezTo>
                  <a:pt x="4372008" y="929100"/>
                  <a:pt x="4811477" y="2116944"/>
                  <a:pt x="4811477" y="3429000"/>
                </a:cubicBezTo>
                <a:cubicBezTo>
                  <a:pt x="4811477" y="4741056"/>
                  <a:pt x="4372008" y="5928900"/>
                  <a:pt x="3661482" y="6788730"/>
                </a:cubicBezTo>
                <a:lnTo>
                  <a:pt x="3598499" y="6858000"/>
                </a:lnTo>
                <a:lnTo>
                  <a:pt x="0" y="6858000"/>
                </a:lnTo>
                <a:close/>
              </a:path>
            </a:pathLst>
          </a:custGeom>
          <a:ln w="952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0B5A858-029A-C9C3-E64E-04876DAFF29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1792" y="1161288"/>
            <a:ext cx="3602736" cy="4526280"/>
          </a:xfrm>
        </p:spPr>
        <p:txBody>
          <a:bodyPr>
            <a:normAutofit/>
          </a:bodyPr>
          <a:lstStyle/>
          <a:p>
            <a:r>
              <a:rPr lang="en-US" dirty="0" err="1"/>
              <a:t>Scopul</a:t>
            </a:r>
            <a:r>
              <a:rPr lang="en-US" dirty="0"/>
              <a:t> </a:t>
            </a:r>
            <a:r>
              <a:rPr lang="en-US" dirty="0" err="1"/>
              <a:t>jocului</a:t>
            </a:r>
            <a:r>
              <a:rPr lang="en-US" dirty="0"/>
              <a:t> 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463EEC44-1BA3-44ED-81FC-A644B04B2A4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3102049"/>
            <a:ext cx="128016" cy="653903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ECB41D8-26C8-A38A-D1FA-AC6DD6DB5FC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434149" y="932688"/>
            <a:ext cx="5916603" cy="4992624"/>
          </a:xfrm>
        </p:spPr>
        <p:txBody>
          <a:bodyPr anchor="ctr">
            <a:normAutofit/>
          </a:bodyPr>
          <a:lstStyle/>
          <a:p>
            <a:pPr marL="342900" indent="-342900">
              <a:lnSpc>
                <a:spcPct val="90000"/>
              </a:lnSpc>
            </a:pPr>
            <a:r>
              <a:rPr lang="en-US" sz="2000" b="1" err="1"/>
              <a:t>Potrivește</a:t>
            </a:r>
            <a:r>
              <a:rPr lang="en-US" sz="2000" b="1"/>
              <a:t> minim 3 bomboane de același tip pe rând sau coloană.</a:t>
            </a:r>
            <a:endParaRPr lang="en-US"/>
          </a:p>
          <a:p>
            <a:pPr marL="342900" indent="-342900">
              <a:lnSpc>
                <a:spcPct val="90000"/>
              </a:lnSpc>
            </a:pPr>
            <a:r>
              <a:rPr lang="en-US" sz="2000" b="1" err="1"/>
              <a:t>Crează</a:t>
            </a:r>
            <a:r>
              <a:rPr lang="en-US" sz="2000" b="1"/>
              <a:t> </a:t>
            </a:r>
            <a:r>
              <a:rPr lang="en-US" sz="2000" b="1" err="1"/>
              <a:t>forme</a:t>
            </a:r>
            <a:r>
              <a:rPr lang="en-US" sz="2000" b="1"/>
              <a:t> </a:t>
            </a:r>
            <a:r>
              <a:rPr lang="en-US" sz="2000" b="1" err="1"/>
              <a:t>speciale</a:t>
            </a:r>
            <a:r>
              <a:rPr lang="en-US" sz="2000" b="1"/>
              <a:t> (L, T, 4-5 la rând) pentru bonusuri.</a:t>
            </a:r>
            <a:endParaRPr lang="en-US"/>
          </a:p>
          <a:p>
            <a:pPr marL="342900" indent="-342900">
              <a:lnSpc>
                <a:spcPct val="90000"/>
              </a:lnSpc>
            </a:pPr>
            <a:r>
              <a:rPr lang="en-US" sz="2000" b="1" err="1"/>
              <a:t>Obține</a:t>
            </a:r>
            <a:r>
              <a:rPr lang="en-US" sz="2000" b="1"/>
              <a:t> </a:t>
            </a:r>
            <a:r>
              <a:rPr lang="en-US" sz="2000" b="1" err="1"/>
              <a:t>cât</a:t>
            </a:r>
            <a:r>
              <a:rPr lang="en-US" sz="2000" b="1"/>
              <a:t> </a:t>
            </a:r>
            <a:r>
              <a:rPr lang="en-US" sz="2000" b="1" err="1"/>
              <a:t>mai</a:t>
            </a:r>
            <a:r>
              <a:rPr lang="en-US" sz="2000" b="1"/>
              <a:t> </a:t>
            </a:r>
            <a:r>
              <a:rPr lang="en-US" sz="2000" b="1" err="1"/>
              <a:t>multe</a:t>
            </a:r>
            <a:r>
              <a:rPr lang="en-US" sz="2000" b="1"/>
              <a:t> </a:t>
            </a:r>
            <a:r>
              <a:rPr lang="en-US" sz="2000" b="1" err="1"/>
              <a:t>puncte</a:t>
            </a:r>
            <a:r>
              <a:rPr lang="en-US" sz="2000" b="1"/>
              <a:t> </a:t>
            </a:r>
            <a:r>
              <a:rPr lang="en-US" sz="2000" b="1" err="1"/>
              <a:t>înainte</a:t>
            </a:r>
            <a:r>
              <a:rPr lang="en-US" sz="2000" b="1"/>
              <a:t> de a </a:t>
            </a:r>
            <a:r>
              <a:rPr lang="en-US" sz="2000" b="1" err="1"/>
              <a:t>rămâne</a:t>
            </a:r>
            <a:r>
              <a:rPr lang="en-US" sz="2000" b="1"/>
              <a:t> </a:t>
            </a:r>
            <a:r>
              <a:rPr lang="en-US" sz="2000" b="1" err="1"/>
              <a:t>fără</a:t>
            </a:r>
            <a:r>
              <a:rPr lang="en-US" sz="2000" b="1"/>
              <a:t> </a:t>
            </a:r>
            <a:r>
              <a:rPr lang="en-US" sz="2000" b="1" err="1"/>
              <a:t>mutări</a:t>
            </a:r>
            <a:r>
              <a:rPr lang="en-US" sz="2000" b="1"/>
              <a:t>.</a:t>
            </a:r>
            <a:endParaRPr lang="en-US"/>
          </a:p>
          <a:p>
            <a:pPr marL="342900" indent="-342900">
              <a:lnSpc>
                <a:spcPct val="90000"/>
              </a:lnSpc>
            </a:pPr>
            <a:r>
              <a:rPr lang="en-US" sz="2000" b="1" err="1"/>
              <a:t>Îndeplinește</a:t>
            </a:r>
            <a:r>
              <a:rPr lang="en-US" sz="2000" b="1"/>
              <a:t> </a:t>
            </a:r>
            <a:r>
              <a:rPr lang="en-US" sz="2000" b="1" err="1"/>
              <a:t>ținta</a:t>
            </a:r>
            <a:r>
              <a:rPr lang="en-US" sz="2000" b="1"/>
              <a:t> de </a:t>
            </a:r>
            <a:r>
              <a:rPr lang="en-US" sz="2000" b="1" err="1"/>
              <a:t>puncte</a:t>
            </a:r>
            <a:r>
              <a:rPr lang="en-US" sz="2000" b="1"/>
              <a:t> </a:t>
            </a:r>
            <a:r>
              <a:rPr lang="en-US" sz="2000" b="1" err="1"/>
              <a:t>pentru</a:t>
            </a:r>
            <a:r>
              <a:rPr lang="en-US" sz="2000" b="1"/>
              <a:t> a </a:t>
            </a:r>
            <a:r>
              <a:rPr lang="en-US" sz="2000" b="1" err="1"/>
              <a:t>trece</a:t>
            </a:r>
            <a:r>
              <a:rPr lang="en-US" sz="2000" b="1"/>
              <a:t> la </a:t>
            </a:r>
            <a:r>
              <a:rPr lang="en-US" sz="2000" b="1" err="1"/>
              <a:t>nivelul</a:t>
            </a:r>
            <a:r>
              <a:rPr lang="en-US" sz="2000" b="1"/>
              <a:t> </a:t>
            </a:r>
            <a:r>
              <a:rPr lang="en-US" sz="2000" b="1" err="1"/>
              <a:t>următor</a:t>
            </a:r>
            <a:r>
              <a:rPr lang="en-US" sz="2000" b="1"/>
              <a:t>.</a:t>
            </a:r>
            <a:endParaRPr lang="en-US"/>
          </a:p>
          <a:p>
            <a:pPr marL="0" indent="0">
              <a:lnSpc>
                <a:spcPct val="90000"/>
              </a:lnSpc>
              <a:buNone/>
            </a:pPr>
            <a:endParaRPr lang="en-US" sz="2000" b="1" dirty="0"/>
          </a:p>
          <a:p>
            <a:endParaRPr lang="en-US" sz="2000" b="1" dirty="0"/>
          </a:p>
        </p:txBody>
      </p:sp>
    </p:spTree>
    <p:extLst>
      <p:ext uri="{BB962C8B-B14F-4D97-AF65-F5344CB8AC3E}">
        <p14:creationId xmlns:p14="http://schemas.microsoft.com/office/powerpoint/2010/main" val="178809736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890CF0-AAF0-BEFE-9527-8CF7575D7F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Funcționare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FEF967D-BBA3-CCEA-F9A8-600F4489F7FC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pPr marL="0" indent="0">
              <a:lnSpc>
                <a:spcPct val="100000"/>
              </a:lnSpc>
              <a:buNone/>
            </a:pPr>
            <a:r>
              <a:rPr lang="en-US" sz="2000" b="1" dirty="0" err="1"/>
              <a:t>Inițializarea</a:t>
            </a:r>
            <a:r>
              <a:rPr lang="en-US" sz="2000" b="1" dirty="0"/>
              <a:t> </a:t>
            </a:r>
            <a:r>
              <a:rPr lang="en-US" sz="2000" b="1" dirty="0" err="1"/>
              <a:t>jocului</a:t>
            </a:r>
            <a:endParaRPr lang="en-US" sz="2000" b="1" dirty="0"/>
          </a:p>
          <a:p>
            <a:pPr>
              <a:lnSpc>
                <a:spcPct val="100000"/>
              </a:lnSpc>
            </a:pPr>
            <a:r>
              <a:rPr lang="en-US" sz="2000" dirty="0">
                <a:ea typeface="+mn-lt"/>
                <a:cs typeface="+mn-lt"/>
              </a:rPr>
              <a:t>Se </a:t>
            </a:r>
            <a:r>
              <a:rPr lang="en-US" sz="2000" dirty="0" err="1">
                <a:ea typeface="+mn-lt"/>
                <a:cs typeface="+mn-lt"/>
              </a:rPr>
              <a:t>definesc</a:t>
            </a:r>
            <a:r>
              <a:rPr lang="en-US" sz="2000" dirty="0">
                <a:ea typeface="+mn-lt"/>
                <a:cs typeface="+mn-lt"/>
              </a:rPr>
              <a:t>:</a:t>
            </a:r>
            <a:endParaRPr lang="en-US" sz="2000" dirty="0"/>
          </a:p>
          <a:p>
            <a:pPr>
              <a:lnSpc>
                <a:spcPct val="100000"/>
              </a:lnSpc>
            </a:pPr>
            <a:r>
              <a:rPr lang="en-US" sz="2000" dirty="0" err="1">
                <a:ea typeface="+mn-lt"/>
                <a:cs typeface="+mn-lt"/>
              </a:rPr>
              <a:t>dimensiunea</a:t>
            </a:r>
            <a:r>
              <a:rPr lang="en-US" sz="2000" dirty="0">
                <a:ea typeface="+mn-lt"/>
                <a:cs typeface="+mn-lt"/>
              </a:rPr>
              <a:t> </a:t>
            </a:r>
            <a:r>
              <a:rPr lang="en-US" sz="2000" dirty="0" err="1">
                <a:ea typeface="+mn-lt"/>
                <a:cs typeface="+mn-lt"/>
              </a:rPr>
              <a:t>tablei</a:t>
            </a:r>
            <a:r>
              <a:rPr lang="en-US" sz="2000" dirty="0">
                <a:ea typeface="+mn-lt"/>
                <a:cs typeface="+mn-lt"/>
              </a:rPr>
              <a:t> (ex. 11×11)</a:t>
            </a:r>
            <a:endParaRPr lang="en-US" sz="2000" dirty="0"/>
          </a:p>
          <a:p>
            <a:pPr>
              <a:lnSpc>
                <a:spcPct val="100000"/>
              </a:lnSpc>
            </a:pPr>
            <a:r>
              <a:rPr lang="en-US" sz="2000" dirty="0" err="1">
                <a:ea typeface="+mn-lt"/>
                <a:cs typeface="+mn-lt"/>
              </a:rPr>
              <a:t>tipurile</a:t>
            </a:r>
            <a:r>
              <a:rPr lang="en-US" sz="2000" dirty="0">
                <a:ea typeface="+mn-lt"/>
                <a:cs typeface="+mn-lt"/>
              </a:rPr>
              <a:t> de </a:t>
            </a:r>
            <a:r>
              <a:rPr lang="en-US" sz="2000" dirty="0" err="1">
                <a:ea typeface="+mn-lt"/>
                <a:cs typeface="+mn-lt"/>
              </a:rPr>
              <a:t>bomboane</a:t>
            </a:r>
            <a:r>
              <a:rPr lang="en-US" sz="2000" dirty="0">
                <a:ea typeface="+mn-lt"/>
                <a:cs typeface="+mn-lt"/>
              </a:rPr>
              <a:t> (</a:t>
            </a:r>
            <a:r>
              <a:rPr lang="en-US" sz="2000" dirty="0" err="1">
                <a:ea typeface="+mn-lt"/>
                <a:cs typeface="+mn-lt"/>
              </a:rPr>
              <a:t>valori</a:t>
            </a:r>
            <a:r>
              <a:rPr lang="en-US" sz="2000" dirty="0">
                <a:ea typeface="+mn-lt"/>
                <a:cs typeface="+mn-lt"/>
              </a:rPr>
              <a:t> 1–4)</a:t>
            </a:r>
            <a:endParaRPr lang="en-US" sz="2000" dirty="0"/>
          </a:p>
          <a:p>
            <a:pPr>
              <a:lnSpc>
                <a:spcPct val="100000"/>
              </a:lnSpc>
            </a:pPr>
            <a:r>
              <a:rPr lang="en-US" sz="2000" dirty="0" err="1">
                <a:ea typeface="+mn-lt"/>
                <a:cs typeface="+mn-lt"/>
              </a:rPr>
              <a:t>regulile</a:t>
            </a:r>
            <a:r>
              <a:rPr lang="en-US" sz="2000" dirty="0">
                <a:ea typeface="+mn-lt"/>
                <a:cs typeface="+mn-lt"/>
              </a:rPr>
              <a:t> de </a:t>
            </a:r>
            <a:r>
              <a:rPr lang="en-US" sz="2000" dirty="0" err="1">
                <a:ea typeface="+mn-lt"/>
                <a:cs typeface="+mn-lt"/>
              </a:rPr>
              <a:t>scor</a:t>
            </a:r>
            <a:r>
              <a:rPr lang="en-US" sz="2000" dirty="0">
                <a:ea typeface="+mn-lt"/>
                <a:cs typeface="+mn-lt"/>
              </a:rPr>
              <a:t> (</a:t>
            </a:r>
            <a:r>
              <a:rPr lang="en-US" sz="2000" dirty="0" err="1">
                <a:ea typeface="+mn-lt"/>
                <a:cs typeface="+mn-lt"/>
              </a:rPr>
              <a:t>linii</a:t>
            </a:r>
            <a:r>
              <a:rPr lang="en-US" sz="2000" dirty="0">
                <a:ea typeface="+mn-lt"/>
                <a:cs typeface="+mn-lt"/>
              </a:rPr>
              <a:t>, </a:t>
            </a:r>
            <a:r>
              <a:rPr lang="en-US" sz="2000" dirty="0" err="1">
                <a:ea typeface="+mn-lt"/>
                <a:cs typeface="+mn-lt"/>
              </a:rPr>
              <a:t>forme</a:t>
            </a:r>
            <a:r>
              <a:rPr lang="en-US" sz="2000" dirty="0">
                <a:ea typeface="+mn-lt"/>
                <a:cs typeface="+mn-lt"/>
              </a:rPr>
              <a:t> L </a:t>
            </a:r>
            <a:r>
              <a:rPr lang="en-US" sz="2000" dirty="0" err="1">
                <a:ea typeface="+mn-lt"/>
                <a:cs typeface="+mn-lt"/>
              </a:rPr>
              <a:t>și</a:t>
            </a:r>
            <a:r>
              <a:rPr lang="en-US" sz="2000" dirty="0">
                <a:ea typeface="+mn-lt"/>
                <a:cs typeface="+mn-lt"/>
              </a:rPr>
              <a:t> T)</a:t>
            </a:r>
            <a:endParaRPr lang="en-US" sz="200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2000" dirty="0">
                <a:ea typeface="+mn-lt"/>
                <a:cs typeface="+mn-lt"/>
              </a:rPr>
              <a:t>   </a:t>
            </a:r>
            <a:r>
              <a:rPr lang="en-US" sz="2000" dirty="0" err="1">
                <a:ea typeface="+mn-lt"/>
                <a:cs typeface="+mn-lt"/>
              </a:rPr>
              <a:t>Tabla</a:t>
            </a:r>
            <a:r>
              <a:rPr lang="en-US" sz="2000" dirty="0">
                <a:ea typeface="+mn-lt"/>
                <a:cs typeface="+mn-lt"/>
              </a:rPr>
              <a:t> </a:t>
            </a:r>
            <a:r>
              <a:rPr lang="en-US" sz="2000" dirty="0" err="1">
                <a:ea typeface="+mn-lt"/>
                <a:cs typeface="+mn-lt"/>
              </a:rPr>
              <a:t>este</a:t>
            </a:r>
            <a:r>
              <a:rPr lang="en-US" sz="2000" dirty="0">
                <a:ea typeface="+mn-lt"/>
                <a:cs typeface="+mn-lt"/>
              </a:rPr>
              <a:t>:</a:t>
            </a:r>
            <a:endParaRPr lang="en-US" sz="2000" dirty="0"/>
          </a:p>
          <a:p>
            <a:pPr>
              <a:lnSpc>
                <a:spcPct val="100000"/>
              </a:lnSpc>
            </a:pPr>
            <a:r>
              <a:rPr lang="en-US" sz="2000" dirty="0">
                <a:ea typeface="+mn-lt"/>
                <a:cs typeface="+mn-lt"/>
              </a:rPr>
              <a:t>fie </a:t>
            </a:r>
            <a:r>
              <a:rPr lang="en-US" sz="2000" dirty="0" err="1">
                <a:ea typeface="+mn-lt"/>
                <a:cs typeface="+mn-lt"/>
              </a:rPr>
              <a:t>generată</a:t>
            </a:r>
            <a:r>
              <a:rPr lang="en-US" sz="2000" dirty="0">
                <a:ea typeface="+mn-lt"/>
                <a:cs typeface="+mn-lt"/>
              </a:rPr>
              <a:t> </a:t>
            </a:r>
            <a:r>
              <a:rPr lang="en-US" sz="2000" dirty="0" err="1">
                <a:ea typeface="+mn-lt"/>
                <a:cs typeface="+mn-lt"/>
              </a:rPr>
              <a:t>aleator</a:t>
            </a:r>
            <a:endParaRPr lang="en-US" sz="2000" dirty="0"/>
          </a:p>
          <a:p>
            <a:pPr>
              <a:lnSpc>
                <a:spcPct val="100000"/>
              </a:lnSpc>
            </a:pPr>
            <a:r>
              <a:rPr lang="en-US" sz="2000" dirty="0">
                <a:ea typeface="+mn-lt"/>
                <a:cs typeface="+mn-lt"/>
              </a:rPr>
              <a:t>fie </a:t>
            </a:r>
            <a:r>
              <a:rPr lang="en-US" sz="2000" dirty="0" err="1">
                <a:ea typeface="+mn-lt"/>
                <a:cs typeface="+mn-lt"/>
              </a:rPr>
              <a:t>încărcată</a:t>
            </a:r>
            <a:r>
              <a:rPr lang="en-US" sz="2000" dirty="0">
                <a:ea typeface="+mn-lt"/>
                <a:cs typeface="+mn-lt"/>
              </a:rPr>
              <a:t> din </a:t>
            </a:r>
            <a:r>
              <a:rPr lang="en-US" sz="2000" dirty="0" err="1">
                <a:ea typeface="+mn-lt"/>
                <a:cs typeface="+mn-lt"/>
              </a:rPr>
              <a:t>fișiere</a:t>
            </a:r>
            <a:r>
              <a:rPr lang="en-US" sz="2000" dirty="0">
                <a:ea typeface="+mn-lt"/>
                <a:cs typeface="+mn-lt"/>
              </a:rPr>
              <a:t> </a:t>
            </a:r>
            <a:r>
              <a:rPr lang="en-US" sz="2000" dirty="0" err="1">
                <a:ea typeface="+mn-lt"/>
                <a:cs typeface="+mn-lt"/>
              </a:rPr>
              <a:t>predefinite</a:t>
            </a:r>
            <a:endParaRPr lang="en-US" sz="2000" dirty="0"/>
          </a:p>
          <a:p>
            <a:endParaRPr lang="en-US" sz="2000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7B04E12-6FF0-FCAC-069F-E84EE6F8749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596457" y="2478024"/>
            <a:ext cx="4937760" cy="3694176"/>
          </a:xfrm>
        </p:spPr>
        <p:txBody>
          <a:bodyPr vert="horz" lIns="91440" tIns="45720" rIns="91440" bIns="45720" rtlCol="0" anchor="t">
            <a:noAutofit/>
          </a:bodyPr>
          <a:lstStyle/>
          <a:p>
            <a:pPr marL="0" indent="0">
              <a:lnSpc>
                <a:spcPct val="90000"/>
              </a:lnSpc>
              <a:buNone/>
            </a:pPr>
            <a:r>
              <a:rPr lang="en-US" sz="2000" dirty="0"/>
              <a:t>     </a:t>
            </a:r>
            <a:r>
              <a:rPr lang="en-US" sz="2000" b="1" dirty="0" err="1"/>
              <a:t>Detectarea</a:t>
            </a:r>
            <a:r>
              <a:rPr lang="en-US" sz="2000" b="1" dirty="0"/>
              <a:t> </a:t>
            </a:r>
            <a:r>
              <a:rPr lang="en-US" sz="2000" b="1" dirty="0" err="1"/>
              <a:t>formelor</a:t>
            </a:r>
            <a:r>
              <a:rPr lang="en-US" sz="2000" b="1" dirty="0"/>
              <a:t> </a:t>
            </a:r>
            <a:r>
              <a:rPr lang="en-US" sz="2000" b="1" dirty="0" err="1"/>
              <a:t>valide</a:t>
            </a:r>
            <a:endParaRPr lang="en-US" sz="2000" b="1" dirty="0"/>
          </a:p>
          <a:p>
            <a:pPr>
              <a:lnSpc>
                <a:spcPct val="90000"/>
              </a:lnSpc>
            </a:pPr>
            <a:r>
              <a:rPr lang="en-US" sz="2000" dirty="0" err="1">
                <a:ea typeface="+mn-lt"/>
                <a:cs typeface="+mn-lt"/>
              </a:rPr>
              <a:t>Codul</a:t>
            </a:r>
            <a:r>
              <a:rPr lang="en-US" sz="2000" dirty="0">
                <a:ea typeface="+mn-lt"/>
                <a:cs typeface="+mn-lt"/>
              </a:rPr>
              <a:t> </a:t>
            </a:r>
            <a:r>
              <a:rPr lang="en-US" sz="2000" dirty="0" err="1">
                <a:ea typeface="+mn-lt"/>
                <a:cs typeface="+mn-lt"/>
              </a:rPr>
              <a:t>caută</a:t>
            </a:r>
            <a:r>
              <a:rPr lang="en-US" sz="2000" dirty="0">
                <a:ea typeface="+mn-lt"/>
                <a:cs typeface="+mn-lt"/>
              </a:rPr>
              <a:t> automat pe </a:t>
            </a:r>
            <a:r>
              <a:rPr lang="en-US" sz="2000" dirty="0" err="1">
                <a:ea typeface="+mn-lt"/>
                <a:cs typeface="+mn-lt"/>
              </a:rPr>
              <a:t>tablă</a:t>
            </a:r>
            <a:r>
              <a:rPr lang="en-US" sz="2000" dirty="0">
                <a:ea typeface="+mn-lt"/>
                <a:cs typeface="+mn-lt"/>
              </a:rPr>
              <a:t>:</a:t>
            </a:r>
            <a:endParaRPr lang="en-US" sz="2000" dirty="0"/>
          </a:p>
          <a:p>
            <a:pPr marL="0" indent="0">
              <a:lnSpc>
                <a:spcPct val="90000"/>
              </a:lnSpc>
              <a:buNone/>
            </a:pPr>
            <a:r>
              <a:rPr lang="en-US" sz="2000" dirty="0"/>
              <a:t>    </a:t>
            </a:r>
            <a:r>
              <a:rPr lang="en-US" sz="2000" dirty="0" err="1"/>
              <a:t>Linii</a:t>
            </a:r>
            <a:r>
              <a:rPr lang="en-US" sz="2000" dirty="0"/>
              <a:t> </a:t>
            </a:r>
            <a:r>
              <a:rPr lang="en-US" sz="2000" dirty="0" err="1"/>
              <a:t>clasice</a:t>
            </a:r>
            <a:endParaRPr lang="en-US" sz="2000" dirty="0"/>
          </a:p>
          <a:p>
            <a:pPr>
              <a:lnSpc>
                <a:spcPct val="90000"/>
              </a:lnSpc>
            </a:pPr>
            <a:r>
              <a:rPr lang="en-US" sz="2000" dirty="0">
                <a:ea typeface="+mn-lt"/>
                <a:cs typeface="+mn-lt"/>
              </a:rPr>
              <a:t>3, 4 </a:t>
            </a:r>
            <a:r>
              <a:rPr lang="en-US" sz="2000" dirty="0" err="1">
                <a:ea typeface="+mn-lt"/>
                <a:cs typeface="+mn-lt"/>
              </a:rPr>
              <a:t>sau</a:t>
            </a:r>
            <a:r>
              <a:rPr lang="en-US" sz="2000" dirty="0">
                <a:ea typeface="+mn-lt"/>
                <a:cs typeface="+mn-lt"/>
              </a:rPr>
              <a:t> 5 </a:t>
            </a:r>
            <a:r>
              <a:rPr lang="en-US" sz="2000" dirty="0" err="1">
                <a:ea typeface="+mn-lt"/>
                <a:cs typeface="+mn-lt"/>
              </a:rPr>
              <a:t>bomboane</a:t>
            </a:r>
            <a:r>
              <a:rPr lang="en-US" sz="2000" dirty="0">
                <a:ea typeface="+mn-lt"/>
                <a:cs typeface="+mn-lt"/>
              </a:rPr>
              <a:t> </a:t>
            </a:r>
            <a:r>
              <a:rPr lang="en-US" sz="2000" dirty="0" err="1">
                <a:ea typeface="+mn-lt"/>
                <a:cs typeface="+mn-lt"/>
              </a:rPr>
              <a:t>identice</a:t>
            </a:r>
            <a:r>
              <a:rPr lang="en-US" sz="2000" dirty="0">
                <a:ea typeface="+mn-lt"/>
                <a:cs typeface="+mn-lt"/>
              </a:rPr>
              <a:t>:</a:t>
            </a:r>
            <a:endParaRPr lang="en-US" sz="2000" dirty="0"/>
          </a:p>
          <a:p>
            <a:pPr>
              <a:lnSpc>
                <a:spcPct val="90000"/>
              </a:lnSpc>
            </a:pPr>
            <a:r>
              <a:rPr lang="en-US" sz="2000" dirty="0" err="1">
                <a:ea typeface="+mn-lt"/>
                <a:cs typeface="+mn-lt"/>
              </a:rPr>
              <a:t>orizontal</a:t>
            </a:r>
            <a:endParaRPr lang="en-US" sz="2000" dirty="0"/>
          </a:p>
          <a:p>
            <a:pPr>
              <a:lnSpc>
                <a:spcPct val="90000"/>
              </a:lnSpc>
            </a:pPr>
            <a:r>
              <a:rPr lang="en-US" sz="2000" dirty="0">
                <a:ea typeface="+mn-lt"/>
                <a:cs typeface="+mn-lt"/>
              </a:rPr>
              <a:t>vertical</a:t>
            </a:r>
            <a:endParaRPr lang="en-US" sz="2000" dirty="0"/>
          </a:p>
          <a:p>
            <a:pPr>
              <a:lnSpc>
                <a:spcPct val="90000"/>
              </a:lnSpc>
            </a:pPr>
            <a:r>
              <a:rPr lang="en-US" sz="2000" dirty="0" err="1">
                <a:ea typeface="+mn-lt"/>
                <a:cs typeface="+mn-lt"/>
              </a:rPr>
              <a:t>Lungimea</a:t>
            </a:r>
            <a:r>
              <a:rPr lang="en-US" sz="2000" dirty="0">
                <a:ea typeface="+mn-lt"/>
                <a:cs typeface="+mn-lt"/>
              </a:rPr>
              <a:t> </a:t>
            </a:r>
            <a:r>
              <a:rPr lang="en-US" sz="2000" dirty="0" err="1">
                <a:ea typeface="+mn-lt"/>
                <a:cs typeface="+mn-lt"/>
              </a:rPr>
              <a:t>determină</a:t>
            </a:r>
            <a:r>
              <a:rPr lang="en-US" sz="2000" dirty="0">
                <a:ea typeface="+mn-lt"/>
                <a:cs typeface="+mn-lt"/>
              </a:rPr>
              <a:t> </a:t>
            </a:r>
            <a:r>
              <a:rPr lang="en-US" sz="2000" dirty="0" err="1">
                <a:ea typeface="+mn-lt"/>
                <a:cs typeface="+mn-lt"/>
              </a:rPr>
              <a:t>scorul</a:t>
            </a:r>
            <a:r>
              <a:rPr lang="en-US" sz="2000" dirty="0">
                <a:ea typeface="+mn-lt"/>
                <a:cs typeface="+mn-lt"/>
              </a:rPr>
              <a:t> </a:t>
            </a:r>
            <a:r>
              <a:rPr lang="en-US" sz="2000" dirty="0" err="1">
                <a:ea typeface="+mn-lt"/>
                <a:cs typeface="+mn-lt"/>
              </a:rPr>
              <a:t>obținut</a:t>
            </a:r>
            <a:r>
              <a:rPr lang="en-US" sz="2000" dirty="0">
                <a:ea typeface="+mn-lt"/>
                <a:cs typeface="+mn-lt"/>
              </a:rPr>
              <a:t>.</a:t>
            </a:r>
            <a:endParaRPr lang="en-US" sz="2000" dirty="0"/>
          </a:p>
          <a:p>
            <a:pPr marL="0" indent="0">
              <a:lnSpc>
                <a:spcPct val="90000"/>
              </a:lnSpc>
              <a:buNone/>
            </a:pPr>
            <a:r>
              <a:rPr lang="en-US" sz="2000" dirty="0"/>
              <a:t>    </a:t>
            </a:r>
          </a:p>
        </p:txBody>
      </p:sp>
    </p:spTree>
    <p:extLst>
      <p:ext uri="{BB962C8B-B14F-4D97-AF65-F5344CB8AC3E}">
        <p14:creationId xmlns:p14="http://schemas.microsoft.com/office/powerpoint/2010/main" val="317373916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7FAD7220-09B6-985B-392D-40867268AB2E}"/>
              </a:ext>
            </a:extLst>
          </p:cNvPr>
          <p:cNvSpPr txBox="1"/>
          <p:nvPr/>
        </p:nvSpPr>
        <p:spPr>
          <a:xfrm>
            <a:off x="560712" y="349380"/>
            <a:ext cx="4329829" cy="4009303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>
              <a:lnSpc>
                <a:spcPct val="90000"/>
              </a:lnSpc>
              <a:spcBef>
                <a:spcPts val="1000"/>
              </a:spcBef>
            </a:pPr>
            <a:r>
              <a:rPr lang="en-US" dirty="0"/>
              <a:t> </a:t>
            </a:r>
            <a:r>
              <a:rPr lang="en-US" b="1" err="1"/>
              <a:t>Forme</a:t>
            </a:r>
            <a:r>
              <a:rPr lang="en-US" b="1" dirty="0"/>
              <a:t> </a:t>
            </a:r>
            <a:r>
              <a:rPr lang="en-US" b="1" err="1"/>
              <a:t>speciale</a:t>
            </a:r>
            <a:r>
              <a:rPr lang="en-US" b="1" dirty="0"/>
              <a:t> (L </a:t>
            </a:r>
            <a:r>
              <a:rPr lang="en-US" b="1" err="1"/>
              <a:t>și</a:t>
            </a:r>
            <a:r>
              <a:rPr lang="en-US" b="1" dirty="0"/>
              <a:t> T)</a:t>
            </a:r>
          </a:p>
          <a:p>
            <a:pPr marL="285750" indent="-285750">
              <a:lnSpc>
                <a:spcPct val="90000"/>
              </a:lnSpc>
              <a:spcBef>
                <a:spcPts val="1000"/>
              </a:spcBef>
              <a:buFont typeface="Arial"/>
              <a:buChar char="•"/>
            </a:pPr>
            <a:r>
              <a:rPr lang="en-US" dirty="0"/>
              <a:t>Se </a:t>
            </a:r>
            <a:r>
              <a:rPr lang="en-US" err="1"/>
              <a:t>verifică</a:t>
            </a:r>
            <a:r>
              <a:rPr lang="en-US" dirty="0"/>
              <a:t> </a:t>
            </a:r>
            <a:r>
              <a:rPr lang="en-US" err="1"/>
              <a:t>fiecare</a:t>
            </a:r>
            <a:r>
              <a:rPr lang="en-US" dirty="0"/>
              <a:t> </a:t>
            </a:r>
            <a:r>
              <a:rPr lang="en-US" err="1"/>
              <a:t>celulă</a:t>
            </a:r>
            <a:r>
              <a:rPr lang="en-US" dirty="0"/>
              <a:t> ca </a:t>
            </a:r>
            <a:r>
              <a:rPr lang="en-US" err="1"/>
              <a:t>potențialcentru</a:t>
            </a:r>
            <a:r>
              <a:rPr lang="en-US" dirty="0"/>
              <a:t>.</a:t>
            </a:r>
          </a:p>
          <a:p>
            <a:pPr marL="285750" indent="-285750">
              <a:lnSpc>
                <a:spcPct val="90000"/>
              </a:lnSpc>
              <a:spcBef>
                <a:spcPts val="1000"/>
              </a:spcBef>
              <a:buFont typeface="Arial"/>
              <a:buChar char="•"/>
            </a:pPr>
            <a:r>
              <a:rPr lang="en-US" dirty="0"/>
              <a:t>Se </a:t>
            </a:r>
            <a:r>
              <a:rPr lang="en-US" err="1"/>
              <a:t>aplică</a:t>
            </a:r>
            <a:r>
              <a:rPr lang="en-US" dirty="0"/>
              <a:t> </a:t>
            </a:r>
            <a:r>
              <a:rPr lang="en-US" err="1"/>
              <a:t>șabloane</a:t>
            </a:r>
            <a:r>
              <a:rPr lang="en-US" dirty="0"/>
              <a:t> relative (pattern-</a:t>
            </a:r>
            <a:r>
              <a:rPr lang="en-US" err="1"/>
              <a:t>uri</a:t>
            </a:r>
            <a:r>
              <a:rPr lang="en-US" dirty="0"/>
              <a:t>)</a:t>
            </a:r>
            <a:r>
              <a:rPr lang="en-US" err="1"/>
              <a:t>pentru</a:t>
            </a:r>
            <a:r>
              <a:rPr lang="en-US" dirty="0"/>
              <a:t> L </a:t>
            </a:r>
            <a:r>
              <a:rPr lang="en-US" err="1"/>
              <a:t>și</a:t>
            </a:r>
            <a:r>
              <a:rPr lang="en-US" dirty="0"/>
              <a:t> T.</a:t>
            </a:r>
          </a:p>
          <a:p>
            <a:pPr marL="285750" indent="-285750">
              <a:lnSpc>
                <a:spcPct val="90000"/>
              </a:lnSpc>
              <a:spcBef>
                <a:spcPts val="1000"/>
              </a:spcBef>
              <a:buFont typeface="Arial"/>
              <a:buChar char="•"/>
            </a:pPr>
            <a:r>
              <a:rPr lang="en-US" dirty="0"/>
              <a:t>Forma </a:t>
            </a:r>
            <a:r>
              <a:rPr lang="en-US" err="1"/>
              <a:t>este</a:t>
            </a:r>
            <a:r>
              <a:rPr lang="en-US" dirty="0"/>
              <a:t> </a:t>
            </a:r>
            <a:r>
              <a:rPr lang="en-US" err="1"/>
              <a:t>validă</a:t>
            </a:r>
            <a:r>
              <a:rPr lang="en-US" dirty="0"/>
              <a:t> </a:t>
            </a:r>
            <a:r>
              <a:rPr lang="en-US" err="1"/>
              <a:t>doar</a:t>
            </a:r>
            <a:r>
              <a:rPr lang="en-US" dirty="0"/>
              <a:t> </a:t>
            </a:r>
            <a:r>
              <a:rPr lang="en-US" err="1"/>
              <a:t>dacă</a:t>
            </a:r>
            <a:r>
              <a:rPr lang="en-US" dirty="0"/>
              <a:t>:</a:t>
            </a:r>
          </a:p>
          <a:p>
            <a:pPr marL="285750" indent="-285750">
              <a:lnSpc>
                <a:spcPct val="90000"/>
              </a:lnSpc>
              <a:spcBef>
                <a:spcPts val="1000"/>
              </a:spcBef>
              <a:buFont typeface="Arial"/>
              <a:buChar char="•"/>
            </a:pPr>
            <a:r>
              <a:rPr lang="en-US" dirty="0" err="1"/>
              <a:t>toate</a:t>
            </a:r>
            <a:r>
              <a:rPr lang="en-US" dirty="0"/>
              <a:t> </a:t>
            </a:r>
            <a:r>
              <a:rPr lang="en-US" dirty="0" err="1"/>
              <a:t>pozițiile</a:t>
            </a:r>
            <a:r>
              <a:rPr lang="en-US" dirty="0"/>
              <a:t> sunt </a:t>
            </a:r>
            <a:r>
              <a:rPr lang="en-US" dirty="0" err="1"/>
              <a:t>în</a:t>
            </a:r>
            <a:r>
              <a:rPr lang="en-US" dirty="0"/>
              <a:t> </a:t>
            </a:r>
            <a:r>
              <a:rPr lang="en-US" dirty="0" err="1"/>
              <a:t>tablă</a:t>
            </a:r>
            <a:endParaRPr lang="en-US" dirty="0"/>
          </a:p>
          <a:p>
            <a:pPr marL="285750" indent="-285750">
              <a:lnSpc>
                <a:spcPct val="90000"/>
              </a:lnSpc>
              <a:spcBef>
                <a:spcPts val="1000"/>
              </a:spcBef>
              <a:buFont typeface="Arial"/>
              <a:buChar char="•"/>
            </a:pPr>
            <a:r>
              <a:rPr lang="en-US" dirty="0" err="1"/>
              <a:t>toate</a:t>
            </a:r>
            <a:r>
              <a:rPr lang="en-US" dirty="0"/>
              <a:t> au </a:t>
            </a:r>
            <a:r>
              <a:rPr lang="en-US" dirty="0" err="1"/>
              <a:t>aceeași</a:t>
            </a:r>
            <a:r>
              <a:rPr lang="en-US" dirty="0"/>
              <a:t> </a:t>
            </a:r>
            <a:r>
              <a:rPr lang="en-US" dirty="0" err="1"/>
              <a:t>valoare</a:t>
            </a:r>
            <a:endParaRPr lang="en-US" dirty="0"/>
          </a:p>
          <a:p>
            <a:pPr>
              <a:lnSpc>
                <a:spcPct val="90000"/>
              </a:lnSpc>
              <a:spcBef>
                <a:spcPts val="1000"/>
              </a:spcBef>
            </a:pPr>
            <a:r>
              <a:rPr lang="en-US" err="1">
                <a:ea typeface="+mn-lt"/>
                <a:cs typeface="+mn-lt"/>
              </a:rPr>
              <a:t>Toate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formele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detectate</a:t>
            </a:r>
            <a:r>
              <a:rPr lang="en-US" dirty="0">
                <a:ea typeface="+mn-lt"/>
                <a:cs typeface="+mn-lt"/>
              </a:rPr>
              <a:t> sunt </a:t>
            </a:r>
            <a:r>
              <a:rPr lang="en-US" err="1">
                <a:ea typeface="+mn-lt"/>
                <a:cs typeface="+mn-lt"/>
              </a:rPr>
              <a:t>colectate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într</a:t>
            </a:r>
            <a:r>
              <a:rPr lang="en-US" dirty="0">
                <a:ea typeface="+mn-lt"/>
                <a:cs typeface="+mn-lt"/>
              </a:rPr>
              <a:t>-o </a:t>
            </a:r>
            <a:r>
              <a:rPr lang="en-US" err="1">
                <a:ea typeface="+mn-lt"/>
                <a:cs typeface="+mn-lt"/>
              </a:rPr>
              <a:t>listă</a:t>
            </a:r>
            <a:r>
              <a:rPr lang="en-US" dirty="0">
                <a:ea typeface="+mn-lt"/>
                <a:cs typeface="+mn-lt"/>
              </a:rPr>
              <a:t>.</a:t>
            </a:r>
            <a:endParaRPr lang="en-US" dirty="0"/>
          </a:p>
          <a:p>
            <a:pPr>
              <a:lnSpc>
                <a:spcPct val="90000"/>
              </a:lnSpc>
              <a:spcBef>
                <a:spcPts val="1000"/>
              </a:spcBef>
            </a:pPr>
            <a:endParaRPr lang="en-US" dirty="0"/>
          </a:p>
          <a:p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E42C82C-4CAB-CD05-42E0-02251CEAB799}"/>
              </a:ext>
            </a:extLst>
          </p:cNvPr>
          <p:cNvSpPr txBox="1"/>
          <p:nvPr/>
        </p:nvSpPr>
        <p:spPr>
          <a:xfrm>
            <a:off x="4029205" y="3919603"/>
            <a:ext cx="6096000" cy="2585323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b="1" dirty="0" err="1"/>
              <a:t>Gravitație</a:t>
            </a:r>
            <a:r>
              <a:rPr lang="en-US" b="1" dirty="0"/>
              <a:t> </a:t>
            </a:r>
            <a:r>
              <a:rPr lang="en-US" b="1" dirty="0" err="1"/>
              <a:t>și</a:t>
            </a:r>
            <a:r>
              <a:rPr lang="en-US" b="1" dirty="0"/>
              <a:t> </a:t>
            </a:r>
            <a:r>
              <a:rPr lang="en-US" b="1" dirty="0" err="1"/>
              <a:t>reumplere</a:t>
            </a:r>
            <a:endParaRPr lang="en-US" b="1" dirty="0"/>
          </a:p>
          <a:p>
            <a:pPr marL="342900" indent="-342900">
              <a:buFont typeface="Arial"/>
              <a:buChar char="•"/>
            </a:pPr>
            <a:r>
              <a:rPr lang="en-US" dirty="0"/>
              <a:t> </a:t>
            </a:r>
            <a:r>
              <a:rPr lang="en-US" dirty="0" err="1"/>
              <a:t>Gravitație</a:t>
            </a:r>
            <a:endParaRPr lang="en-US" dirty="0"/>
          </a:p>
          <a:p>
            <a:r>
              <a:rPr lang="en-US" err="1"/>
              <a:t>Bomboanele</a:t>
            </a:r>
            <a:r>
              <a:rPr lang="en-US" dirty="0"/>
              <a:t> „cad” </a:t>
            </a:r>
            <a:r>
              <a:rPr lang="en-US" err="1"/>
              <a:t>în</a:t>
            </a:r>
            <a:r>
              <a:rPr lang="en-US" dirty="0"/>
              <a:t> </a:t>
            </a:r>
            <a:r>
              <a:rPr lang="en-US" err="1"/>
              <a:t>jos</a:t>
            </a:r>
            <a:r>
              <a:rPr lang="en-US" dirty="0"/>
              <a:t> pe </a:t>
            </a:r>
            <a:r>
              <a:rPr lang="en-US" err="1"/>
              <a:t>fiecare</a:t>
            </a:r>
            <a:r>
              <a:rPr lang="en-US" dirty="0"/>
              <a:t> </a:t>
            </a:r>
            <a:r>
              <a:rPr lang="en-US" err="1"/>
              <a:t>coloană</a:t>
            </a:r>
            <a:r>
              <a:rPr lang="en-US" dirty="0"/>
              <a:t>.</a:t>
            </a:r>
          </a:p>
          <a:p>
            <a:r>
              <a:rPr lang="en-US" err="1"/>
              <a:t>Spațiile</a:t>
            </a:r>
            <a:r>
              <a:rPr lang="en-US" dirty="0"/>
              <a:t> </a:t>
            </a:r>
            <a:r>
              <a:rPr lang="en-US" err="1"/>
              <a:t>libere</a:t>
            </a:r>
            <a:r>
              <a:rPr lang="en-US" dirty="0"/>
              <a:t> </a:t>
            </a:r>
            <a:r>
              <a:rPr lang="en-US" err="1"/>
              <a:t>rămân</a:t>
            </a:r>
            <a:r>
              <a:rPr lang="en-US" dirty="0"/>
              <a:t> sus.</a:t>
            </a:r>
          </a:p>
          <a:p>
            <a:pPr marL="342900" indent="-342900">
              <a:buFont typeface="Arial"/>
              <a:buChar char="•"/>
            </a:pPr>
            <a:r>
              <a:rPr lang="en-US" dirty="0" err="1"/>
              <a:t>Reumplere</a:t>
            </a:r>
            <a:endParaRPr lang="en-US" dirty="0"/>
          </a:p>
          <a:p>
            <a:r>
              <a:rPr lang="en-US" err="1"/>
              <a:t>Spațiile</a:t>
            </a:r>
            <a:r>
              <a:rPr lang="en-US" dirty="0"/>
              <a:t> </a:t>
            </a:r>
            <a:r>
              <a:rPr lang="en-US" err="1"/>
              <a:t>goale</a:t>
            </a:r>
            <a:r>
              <a:rPr lang="en-US" dirty="0"/>
              <a:t> sunt </a:t>
            </a:r>
            <a:r>
              <a:rPr lang="en-US" err="1"/>
              <a:t>completate</a:t>
            </a:r>
            <a:r>
              <a:rPr lang="en-US" dirty="0"/>
              <a:t> cu </a:t>
            </a:r>
            <a:r>
              <a:rPr lang="en-US" err="1"/>
              <a:t>bomboane</a:t>
            </a:r>
            <a:r>
              <a:rPr lang="en-US" dirty="0"/>
              <a:t> </a:t>
            </a:r>
            <a:r>
              <a:rPr lang="en-US" err="1"/>
              <a:t>noi</a:t>
            </a:r>
            <a:r>
              <a:rPr lang="en-US" dirty="0"/>
              <a:t> </a:t>
            </a:r>
            <a:r>
              <a:rPr lang="en-US" err="1"/>
              <a:t>aleatorii</a:t>
            </a:r>
            <a:r>
              <a:rPr lang="en-US" dirty="0"/>
              <a:t>.</a:t>
            </a:r>
          </a:p>
          <a:p>
            <a:r>
              <a:rPr lang="en-US" dirty="0">
                <a:ea typeface="+mn-lt"/>
                <a:cs typeface="+mn-lt"/>
              </a:rPr>
              <a:t>   </a:t>
            </a:r>
            <a:r>
              <a:rPr lang="en-US" dirty="0" err="1">
                <a:ea typeface="+mn-lt"/>
                <a:cs typeface="+mn-lt"/>
              </a:rPr>
              <a:t>Tabla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revine</a:t>
            </a:r>
            <a:r>
              <a:rPr lang="en-US" dirty="0">
                <a:ea typeface="+mn-lt"/>
                <a:cs typeface="+mn-lt"/>
              </a:rPr>
              <a:t> la </a:t>
            </a:r>
            <a:r>
              <a:rPr lang="en-US" dirty="0" err="1">
                <a:ea typeface="+mn-lt"/>
                <a:cs typeface="+mn-lt"/>
              </a:rPr>
              <a:t>dimensiune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completă</a:t>
            </a:r>
            <a:r>
              <a:rPr lang="en-US" dirty="0">
                <a:ea typeface="+mn-lt"/>
                <a:cs typeface="+mn-lt"/>
              </a:rPr>
              <a:t>.</a:t>
            </a:r>
            <a:endParaRPr lang="en-US" dirty="0"/>
          </a:p>
          <a:p>
            <a:endParaRPr lang="en-US" b="1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2D32DAD-842E-4D94-5B75-4696021AAFE8}"/>
              </a:ext>
            </a:extLst>
          </p:cNvPr>
          <p:cNvSpPr txBox="1"/>
          <p:nvPr/>
        </p:nvSpPr>
        <p:spPr>
          <a:xfrm>
            <a:off x="6095213" y="353081"/>
            <a:ext cx="7137746" cy="3139321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dirty="0"/>
              <a:t> </a:t>
            </a:r>
            <a:r>
              <a:rPr lang="en-US" b="1" dirty="0" err="1"/>
              <a:t>Eliminarea</a:t>
            </a:r>
            <a:r>
              <a:rPr lang="en-US" b="1" dirty="0"/>
              <a:t> </a:t>
            </a:r>
            <a:r>
              <a:rPr lang="en-US" b="1" dirty="0" err="1"/>
              <a:t>formelor</a:t>
            </a:r>
            <a:r>
              <a:rPr lang="en-US" b="1" dirty="0"/>
              <a:t> </a:t>
            </a:r>
            <a:r>
              <a:rPr lang="en-US" b="1" dirty="0" err="1"/>
              <a:t>și</a:t>
            </a:r>
            <a:r>
              <a:rPr lang="en-US" b="1" dirty="0"/>
              <a:t> </a:t>
            </a:r>
            <a:r>
              <a:rPr lang="en-US" b="1" dirty="0" err="1"/>
              <a:t>scorarea</a:t>
            </a:r>
            <a:endParaRPr lang="en-US" b="1" dirty="0"/>
          </a:p>
          <a:p>
            <a:r>
              <a:rPr lang="en-US" dirty="0" err="1"/>
              <a:t>Formele</a:t>
            </a:r>
            <a:r>
              <a:rPr lang="en-US" dirty="0"/>
              <a:t> sunt:</a:t>
            </a:r>
          </a:p>
          <a:p>
            <a:pPr marL="342900" indent="-342900">
              <a:buFont typeface="Arial,Sans-Serif"/>
              <a:buChar char="•"/>
            </a:pPr>
            <a:r>
              <a:rPr lang="en-US" dirty="0" err="1"/>
              <a:t>sortate</a:t>
            </a:r>
            <a:r>
              <a:rPr lang="en-US" dirty="0"/>
              <a:t> </a:t>
            </a:r>
            <a:r>
              <a:rPr lang="en-US" dirty="0" err="1"/>
              <a:t>descrescător</a:t>
            </a:r>
            <a:r>
              <a:rPr lang="en-US" dirty="0"/>
              <a:t> </a:t>
            </a:r>
            <a:r>
              <a:rPr lang="en-US" dirty="0" err="1"/>
              <a:t>după</a:t>
            </a:r>
            <a:r>
              <a:rPr lang="en-US" dirty="0"/>
              <a:t> </a:t>
            </a:r>
            <a:r>
              <a:rPr lang="en-US" dirty="0" err="1"/>
              <a:t>scor</a:t>
            </a:r>
            <a:endParaRPr lang="en-US" dirty="0"/>
          </a:p>
          <a:p>
            <a:pPr marL="342900" indent="-342900">
              <a:buFont typeface="Arial,Sans-Serif"/>
              <a:buChar char="•"/>
            </a:pPr>
            <a:r>
              <a:rPr lang="en-US" dirty="0"/>
              <a:t>Se </a:t>
            </a:r>
            <a:r>
              <a:rPr lang="en-US" dirty="0" err="1"/>
              <a:t>aplică</a:t>
            </a:r>
            <a:r>
              <a:rPr lang="en-US" dirty="0"/>
              <a:t> </a:t>
            </a:r>
            <a:r>
              <a:rPr lang="en-US" dirty="0" err="1"/>
              <a:t>regula</a:t>
            </a:r>
            <a:r>
              <a:rPr lang="en-US" dirty="0"/>
              <a:t> anti-</a:t>
            </a:r>
            <a:r>
              <a:rPr lang="en-US" dirty="0" err="1"/>
              <a:t>dublare</a:t>
            </a:r>
            <a:r>
              <a:rPr lang="en-US" dirty="0"/>
              <a:t>:</a:t>
            </a:r>
          </a:p>
          <a:p>
            <a:r>
              <a:rPr lang="en-US" dirty="0"/>
              <a:t>o </a:t>
            </a:r>
            <a:r>
              <a:rPr lang="en-US" dirty="0" err="1"/>
              <a:t>celulă</a:t>
            </a:r>
            <a:r>
              <a:rPr lang="en-US" dirty="0"/>
              <a:t> </a:t>
            </a:r>
            <a:r>
              <a:rPr lang="en-US" dirty="0" err="1"/>
              <a:t>poate</a:t>
            </a:r>
            <a:r>
              <a:rPr lang="en-US" dirty="0"/>
              <a:t> fi </a:t>
            </a:r>
            <a:r>
              <a:rPr lang="en-US" dirty="0" err="1"/>
              <a:t>folosită</a:t>
            </a:r>
            <a:r>
              <a:rPr lang="en-US" dirty="0"/>
              <a:t> </a:t>
            </a:r>
            <a:r>
              <a:rPr lang="en-US" dirty="0" err="1"/>
              <a:t>într</a:t>
            </a:r>
            <a:r>
              <a:rPr lang="en-US" dirty="0"/>
              <a:t>-o </a:t>
            </a:r>
            <a:r>
              <a:rPr lang="en-US" dirty="0" err="1"/>
              <a:t>singurăformă</a:t>
            </a:r>
            <a:endParaRPr lang="en-US" dirty="0"/>
          </a:p>
          <a:p>
            <a:pPr marL="342900" indent="-342900">
              <a:buFont typeface="Arial,Sans-Serif"/>
              <a:buChar char="•"/>
            </a:pPr>
            <a:r>
              <a:rPr lang="en-US" dirty="0" err="1"/>
              <a:t>Celulele</a:t>
            </a:r>
            <a:r>
              <a:rPr lang="en-US" dirty="0"/>
              <a:t> </a:t>
            </a:r>
            <a:r>
              <a:rPr lang="en-US" dirty="0" err="1"/>
              <a:t>valide</a:t>
            </a:r>
            <a:r>
              <a:rPr lang="en-US" dirty="0"/>
              <a:t>:</a:t>
            </a:r>
          </a:p>
          <a:p>
            <a:pPr marL="342900" indent="-342900">
              <a:buFont typeface="Arial,Sans-Serif"/>
              <a:buChar char="•"/>
            </a:pPr>
            <a:r>
              <a:rPr lang="en-US" dirty="0"/>
              <a:t>sunt eliminate (</a:t>
            </a:r>
            <a:r>
              <a:rPr lang="en-US" dirty="0" err="1"/>
              <a:t>setate</a:t>
            </a:r>
            <a:r>
              <a:rPr lang="en-US" dirty="0"/>
              <a:t> la 0)</a:t>
            </a:r>
          </a:p>
          <a:p>
            <a:pPr marL="342900" indent="-342900">
              <a:buFont typeface="Arial,Sans-Serif"/>
              <a:buChar char="•"/>
            </a:pPr>
            <a:r>
              <a:rPr lang="en-US" dirty="0" err="1"/>
              <a:t>punctele</a:t>
            </a:r>
            <a:r>
              <a:rPr lang="en-US" dirty="0"/>
              <a:t> sunt </a:t>
            </a:r>
            <a:r>
              <a:rPr lang="en-US" dirty="0" err="1"/>
              <a:t>adunate</a:t>
            </a:r>
            <a:endParaRPr lang="en-US" dirty="0"/>
          </a:p>
          <a:p>
            <a:r>
              <a:rPr lang="en-US" dirty="0" err="1"/>
              <a:t>Rezultatul</a:t>
            </a:r>
            <a:r>
              <a:rPr lang="en-US" dirty="0"/>
              <a:t>: </a:t>
            </a:r>
            <a:r>
              <a:rPr lang="en-US" dirty="0" err="1"/>
              <a:t>tablă</a:t>
            </a:r>
            <a:r>
              <a:rPr lang="en-US" dirty="0"/>
              <a:t> cu </a:t>
            </a:r>
            <a:r>
              <a:rPr lang="en-US" dirty="0" err="1"/>
              <a:t>spații</a:t>
            </a:r>
            <a:r>
              <a:rPr lang="en-US" dirty="0"/>
              <a:t> </a:t>
            </a:r>
            <a:r>
              <a:rPr lang="en-US" dirty="0" err="1"/>
              <a:t>goale</a:t>
            </a:r>
            <a:r>
              <a:rPr lang="en-US" dirty="0"/>
              <a:t> + </a:t>
            </a:r>
            <a:r>
              <a:rPr lang="en-US" dirty="0" err="1"/>
              <a:t>scor</a:t>
            </a:r>
            <a:r>
              <a:rPr lang="en-US" dirty="0"/>
              <a:t> </a:t>
            </a:r>
            <a:r>
              <a:rPr lang="en-US" dirty="0" err="1"/>
              <a:t>acumulat</a:t>
            </a:r>
            <a:r>
              <a:rPr lang="en-US" dirty="0"/>
              <a:t>.</a:t>
            </a:r>
          </a:p>
          <a:p>
            <a:endParaRPr lang="en-US" dirty="0"/>
          </a:p>
          <a:p>
            <a:pPr algn="l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8702382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18B8CB9B-CE24-650B-C988-3B419B4251FC}"/>
              </a:ext>
            </a:extLst>
          </p:cNvPr>
          <p:cNvSpPr txBox="1"/>
          <p:nvPr/>
        </p:nvSpPr>
        <p:spPr>
          <a:xfrm>
            <a:off x="532710" y="449702"/>
            <a:ext cx="5279719" cy="286232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b="1" dirty="0"/>
              <a:t>Cascade</a:t>
            </a:r>
          </a:p>
          <a:p>
            <a:pPr marL="285750" indent="-285750">
              <a:buFont typeface="Arial"/>
              <a:buChar char="•"/>
            </a:pPr>
            <a:r>
              <a:rPr lang="en-US" dirty="0" err="1"/>
              <a:t>După</a:t>
            </a:r>
            <a:r>
              <a:rPr lang="en-US" dirty="0"/>
              <a:t> </a:t>
            </a:r>
            <a:r>
              <a:rPr lang="en-US" dirty="0" err="1"/>
              <a:t>reumplere</a:t>
            </a:r>
            <a:r>
              <a:rPr lang="en-US" dirty="0"/>
              <a:t>, pot </a:t>
            </a:r>
            <a:r>
              <a:rPr lang="en-US" dirty="0" err="1"/>
              <a:t>apărea</a:t>
            </a:r>
            <a:r>
              <a:rPr lang="en-US" dirty="0"/>
              <a:t> </a:t>
            </a:r>
            <a:r>
              <a:rPr lang="en-US" dirty="0" err="1"/>
              <a:t>noi</a:t>
            </a:r>
            <a:r>
              <a:rPr lang="en-US" dirty="0"/>
              <a:t> </a:t>
            </a:r>
            <a:r>
              <a:rPr lang="en-US" dirty="0" err="1"/>
              <a:t>forme</a:t>
            </a:r>
            <a:r>
              <a:rPr lang="en-US" dirty="0"/>
              <a:t>.</a:t>
            </a:r>
          </a:p>
          <a:p>
            <a:pPr marL="285750" indent="-285750">
              <a:buFont typeface="Arial"/>
              <a:buChar char="•"/>
            </a:pPr>
            <a:r>
              <a:rPr lang="en-US" dirty="0" err="1"/>
              <a:t>Codul</a:t>
            </a:r>
            <a:r>
              <a:rPr lang="en-US" dirty="0"/>
              <a:t> </a:t>
            </a:r>
            <a:r>
              <a:rPr lang="en-US" dirty="0" err="1"/>
              <a:t>repetă</a:t>
            </a:r>
            <a:r>
              <a:rPr lang="en-US" dirty="0"/>
              <a:t>:</a:t>
            </a:r>
          </a:p>
          <a:p>
            <a:r>
              <a:rPr lang="en-US" dirty="0" err="1"/>
              <a:t>detectare</a:t>
            </a:r>
            <a:r>
              <a:rPr lang="en-US" dirty="0"/>
              <a:t> → </a:t>
            </a:r>
            <a:r>
              <a:rPr lang="en-US" dirty="0" err="1"/>
              <a:t>eliminare</a:t>
            </a:r>
            <a:r>
              <a:rPr lang="en-US" dirty="0"/>
              <a:t> → </a:t>
            </a:r>
            <a:r>
              <a:rPr lang="en-US" dirty="0" err="1"/>
              <a:t>gravitație</a:t>
            </a:r>
            <a:r>
              <a:rPr lang="en-US" dirty="0"/>
              <a:t> → </a:t>
            </a:r>
            <a:r>
              <a:rPr lang="en-US" dirty="0" err="1"/>
              <a:t>reumplere</a:t>
            </a:r>
            <a:r>
              <a:rPr lang="en-US" dirty="0"/>
              <a:t>
</a:t>
            </a:r>
          </a:p>
          <a:p>
            <a:pPr marL="285750" indent="-285750">
              <a:buFont typeface="Arial"/>
              <a:buChar char="•"/>
            </a:pPr>
            <a:r>
              <a:rPr lang="en-US" err="1"/>
              <a:t>Procesul</a:t>
            </a:r>
            <a:r>
              <a:rPr lang="en-US" dirty="0"/>
              <a:t> </a:t>
            </a:r>
            <a:r>
              <a:rPr lang="en-US" err="1"/>
              <a:t>continuă</a:t>
            </a:r>
            <a:r>
              <a:rPr lang="en-US" dirty="0"/>
              <a:t> </a:t>
            </a:r>
            <a:r>
              <a:rPr lang="en-US" err="1"/>
              <a:t>până</a:t>
            </a:r>
            <a:r>
              <a:rPr lang="en-US" dirty="0"/>
              <a:t> </a:t>
            </a:r>
            <a:r>
              <a:rPr lang="en-US" err="1"/>
              <a:t>când</a:t>
            </a:r>
            <a:r>
              <a:rPr lang="en-US" dirty="0"/>
              <a:t> nu </a:t>
            </a:r>
            <a:r>
              <a:rPr lang="en-US" err="1"/>
              <a:t>mai</a:t>
            </a:r>
            <a:r>
              <a:rPr lang="en-US" dirty="0"/>
              <a:t> </a:t>
            </a:r>
            <a:r>
              <a:rPr lang="en-US" err="1"/>
              <a:t>există</a:t>
            </a:r>
            <a:r>
              <a:rPr lang="en-US" dirty="0"/>
              <a:t> </a:t>
            </a:r>
            <a:r>
              <a:rPr lang="en-US" err="1"/>
              <a:t>forme</a:t>
            </a:r>
            <a:r>
              <a:rPr lang="en-US" dirty="0"/>
              <a:t> </a:t>
            </a:r>
            <a:r>
              <a:rPr lang="en-US" err="1"/>
              <a:t>valide</a:t>
            </a:r>
            <a:r>
              <a:rPr lang="en-US" dirty="0"/>
              <a:t>.</a:t>
            </a:r>
          </a:p>
          <a:p>
            <a:r>
              <a:rPr lang="en-US" dirty="0"/>
              <a:t> </a:t>
            </a:r>
            <a:r>
              <a:rPr lang="en-US" dirty="0" err="1"/>
              <a:t>Fiecare</a:t>
            </a:r>
            <a:r>
              <a:rPr lang="en-US" dirty="0"/>
              <a:t> </a:t>
            </a:r>
            <a:r>
              <a:rPr lang="en-US" dirty="0" err="1"/>
              <a:t>repetare</a:t>
            </a:r>
            <a:r>
              <a:rPr lang="en-US" dirty="0"/>
              <a:t> </a:t>
            </a:r>
            <a:r>
              <a:rPr lang="en-US" dirty="0" err="1"/>
              <a:t>este</a:t>
            </a:r>
            <a:r>
              <a:rPr lang="en-US" dirty="0"/>
              <a:t> o </a:t>
            </a:r>
            <a:r>
              <a:rPr lang="en-US" dirty="0" err="1"/>
              <a:t>cascadă</a:t>
            </a:r>
            <a:r>
              <a:rPr lang="en-US" dirty="0"/>
              <a:t>.</a:t>
            </a:r>
          </a:p>
          <a:p>
            <a:pPr algn="l"/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EF68A29-2A3D-9500-F0A6-4501DE3C35D5}"/>
              </a:ext>
            </a:extLst>
          </p:cNvPr>
          <p:cNvSpPr txBox="1"/>
          <p:nvPr/>
        </p:nvSpPr>
        <p:spPr>
          <a:xfrm>
            <a:off x="532356" y="3429000"/>
            <a:ext cx="4864275" cy="2585323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b="1" dirty="0" err="1"/>
              <a:t>Găsirea</a:t>
            </a:r>
            <a:r>
              <a:rPr lang="en-US" b="1" dirty="0"/>
              <a:t> </a:t>
            </a:r>
            <a:r>
              <a:rPr lang="en-US" b="1" dirty="0" err="1"/>
              <a:t>mutărilor</a:t>
            </a:r>
            <a:r>
              <a:rPr lang="en-US" b="1" dirty="0"/>
              <a:t> </a:t>
            </a:r>
            <a:r>
              <a:rPr lang="en-US" b="1" dirty="0" err="1"/>
              <a:t>valide</a:t>
            </a:r>
          </a:p>
          <a:p>
            <a:r>
              <a:rPr lang="en-US" err="1"/>
              <a:t>Codul</a:t>
            </a:r>
            <a:r>
              <a:rPr lang="en-US" dirty="0"/>
              <a:t> </a:t>
            </a:r>
            <a:r>
              <a:rPr lang="en-US" err="1"/>
              <a:t>caută</a:t>
            </a:r>
            <a:r>
              <a:rPr lang="en-US"/>
              <a:t> swap-</a:t>
            </a:r>
            <a:r>
              <a:rPr lang="en-US" err="1"/>
              <a:t>uri</a:t>
            </a:r>
            <a:r>
              <a:rPr lang="en-US" dirty="0"/>
              <a:t> </a:t>
            </a:r>
            <a:r>
              <a:rPr lang="en-US" err="1"/>
              <a:t>posibile</a:t>
            </a:r>
            <a:r>
              <a:rPr lang="en-US" dirty="0"/>
              <a:t> </a:t>
            </a:r>
            <a:r>
              <a:rPr lang="en-US" err="1"/>
              <a:t>între</a:t>
            </a:r>
            <a:r>
              <a:rPr lang="en-US" dirty="0"/>
              <a:t> </a:t>
            </a:r>
            <a:r>
              <a:rPr lang="en-US" err="1"/>
              <a:t>celule</a:t>
            </a:r>
            <a:r>
              <a:rPr lang="en-US" dirty="0"/>
              <a:t> </a:t>
            </a:r>
            <a:r>
              <a:rPr lang="en-US" err="1"/>
              <a:t>adiacente</a:t>
            </a:r>
            <a:r>
              <a:rPr lang="en-US"/>
              <a:t>:</a:t>
            </a:r>
          </a:p>
          <a:p>
            <a:pPr marL="228600" lvl="1" indent="-228600">
              <a:buFont typeface=""/>
              <a:buChar char="•"/>
            </a:pPr>
            <a:r>
              <a:rPr lang="en-US" dirty="0" err="1"/>
              <a:t>dreapta</a:t>
            </a:r>
          </a:p>
          <a:p>
            <a:pPr marL="228600" lvl="1" indent="-228600">
              <a:buFont typeface=""/>
              <a:buChar char="•"/>
            </a:pPr>
            <a:r>
              <a:rPr lang="en-US" dirty="0" err="1"/>
              <a:t>jos</a:t>
            </a:r>
          </a:p>
          <a:p>
            <a:r>
              <a:rPr lang="en-US" err="1"/>
              <a:t>După</a:t>
            </a:r>
            <a:r>
              <a:rPr lang="en-US"/>
              <a:t> </a:t>
            </a:r>
            <a:r>
              <a:rPr lang="en-US" err="1"/>
              <a:t>fiecare</a:t>
            </a:r>
            <a:r>
              <a:rPr lang="en-US"/>
              <a:t> swap:</a:t>
            </a:r>
          </a:p>
          <a:p>
            <a:pPr marL="228600" lvl="1" indent="-228600">
              <a:buFont typeface=""/>
              <a:buChar char="•"/>
            </a:pPr>
            <a:r>
              <a:rPr lang="en-US" dirty="0" err="1"/>
              <a:t>verifică</a:t>
            </a:r>
            <a:r>
              <a:rPr lang="en-US" dirty="0"/>
              <a:t> </a:t>
            </a:r>
            <a:r>
              <a:rPr lang="en-US" dirty="0" err="1"/>
              <a:t>dacă</a:t>
            </a:r>
            <a:r>
              <a:rPr lang="en-US" dirty="0"/>
              <a:t> </a:t>
            </a:r>
            <a:r>
              <a:rPr lang="en-US" dirty="0" err="1"/>
              <a:t>apare</a:t>
            </a:r>
            <a:r>
              <a:rPr lang="en-US" dirty="0"/>
              <a:t> cel </a:t>
            </a:r>
            <a:r>
              <a:rPr lang="en-US" dirty="0" err="1"/>
              <a:t>puțin</a:t>
            </a:r>
            <a:r>
              <a:rPr lang="en-US" dirty="0"/>
              <a:t> o </a:t>
            </a:r>
            <a:r>
              <a:rPr lang="en-US" dirty="0" err="1"/>
              <a:t>linie</a:t>
            </a:r>
            <a:r>
              <a:rPr lang="en-US" dirty="0"/>
              <a:t> de 3</a:t>
            </a:r>
          </a:p>
          <a:p>
            <a:r>
              <a:rPr lang="en-US" dirty="0"/>
              <a:t> Prima </a:t>
            </a:r>
            <a:r>
              <a:rPr lang="en-US" dirty="0" err="1"/>
              <a:t>mutare</a:t>
            </a:r>
            <a:r>
              <a:rPr lang="en-US" dirty="0"/>
              <a:t> </a:t>
            </a:r>
            <a:r>
              <a:rPr lang="en-US" dirty="0" err="1"/>
              <a:t>validă</a:t>
            </a:r>
            <a:r>
              <a:rPr lang="en-US" dirty="0"/>
              <a:t> </a:t>
            </a:r>
            <a:r>
              <a:rPr lang="en-US" dirty="0" err="1"/>
              <a:t>este</a:t>
            </a:r>
            <a:r>
              <a:rPr lang="en-US" dirty="0"/>
              <a:t> </a:t>
            </a:r>
            <a:r>
              <a:rPr lang="en-US" dirty="0" err="1"/>
              <a:t>aleasă</a:t>
            </a:r>
            <a:r>
              <a:rPr lang="en-US" dirty="0"/>
              <a:t> automat.</a:t>
            </a:r>
          </a:p>
          <a:p>
            <a:pPr algn="ctr"/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0EB3D4F-4452-FB4E-8ABC-E2DD2E03BDEE}"/>
              </a:ext>
            </a:extLst>
          </p:cNvPr>
          <p:cNvSpPr txBox="1"/>
          <p:nvPr/>
        </p:nvSpPr>
        <p:spPr>
          <a:xfrm>
            <a:off x="6743178" y="454068"/>
            <a:ext cx="4697261" cy="3139321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b="1"/>
              <a:t>Bucla principală de joc</a:t>
            </a:r>
          </a:p>
          <a:p>
            <a:r>
              <a:rPr lang="en-US"/>
              <a:t>Pentru fiecare joc:</a:t>
            </a:r>
          </a:p>
          <a:p>
            <a:pPr marL="228600" indent="-228600">
              <a:buFont typeface=""/>
              <a:buChar char="•"/>
            </a:pPr>
            <a:r>
              <a:rPr lang="en-US"/>
              <a:t>Se execută mutări succesive până când:</a:t>
            </a:r>
          </a:p>
          <a:p>
            <a:pPr marL="228600" lvl="1" indent="-228600">
              <a:buFont typeface=""/>
              <a:buChar char="•"/>
            </a:pPr>
            <a:r>
              <a:rPr lang="en-US"/>
              <a:t>se atinge ținta de puncte (ex. 10.000)</a:t>
            </a:r>
          </a:p>
          <a:p>
            <a:pPr marL="228600" lvl="1" indent="-228600">
              <a:buFont typeface=""/>
              <a:buChar char="•"/>
            </a:pPr>
            <a:r>
              <a:rPr lang="en-US"/>
              <a:t>sau nu mai există mutări valide</a:t>
            </a:r>
          </a:p>
          <a:p>
            <a:pPr marL="228600" indent="-228600">
              <a:buFont typeface=""/>
              <a:buChar char="•"/>
            </a:pPr>
            <a:r>
              <a:rPr lang="en-US"/>
              <a:t>Se monitorizează:</a:t>
            </a:r>
          </a:p>
          <a:p>
            <a:pPr marL="228600" lvl="1" indent="-228600">
              <a:buFont typeface=""/>
              <a:buChar char="•"/>
            </a:pPr>
            <a:r>
              <a:rPr lang="en-US"/>
              <a:t>puncte totale</a:t>
            </a:r>
          </a:p>
          <a:p>
            <a:pPr marL="228600" lvl="1" indent="-228600">
              <a:buFont typeface=""/>
              <a:buChar char="•"/>
            </a:pPr>
            <a:r>
              <a:rPr lang="en-US"/>
              <a:t>număr de mutări</a:t>
            </a:r>
          </a:p>
          <a:p>
            <a:pPr marL="228600" lvl="1" indent="-228600">
              <a:buFont typeface=""/>
              <a:buChar char="•"/>
            </a:pPr>
            <a:r>
              <a:rPr lang="en-US"/>
              <a:t>număr de cascade</a:t>
            </a:r>
          </a:p>
          <a:p>
            <a:pPr marL="228600" lvl="1" indent="-228600">
              <a:buFont typeface=""/>
              <a:buChar char="•"/>
            </a:pPr>
            <a:r>
              <a:rPr lang="en-US"/>
              <a:t>mutări până la atingerea țintei</a:t>
            </a:r>
          </a:p>
          <a:p>
            <a:pPr algn="ctr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A565823-E58F-F0C5-DF84-AE1F460729DF}"/>
              </a:ext>
            </a:extLst>
          </p:cNvPr>
          <p:cNvSpPr txBox="1"/>
          <p:nvPr/>
        </p:nvSpPr>
        <p:spPr>
          <a:xfrm>
            <a:off x="6749865" y="3711666"/>
            <a:ext cx="4695171" cy="2308324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b="1" err="1"/>
              <a:t>Rularea</a:t>
            </a:r>
            <a:r>
              <a:rPr lang="en-US" b="1" dirty="0"/>
              <a:t> </a:t>
            </a:r>
            <a:r>
              <a:rPr lang="en-US" b="1" err="1"/>
              <a:t>mai</a:t>
            </a:r>
            <a:r>
              <a:rPr lang="en-US" b="1" dirty="0"/>
              <a:t> </a:t>
            </a:r>
            <a:r>
              <a:rPr lang="en-US" b="1" err="1"/>
              <a:t>multor</a:t>
            </a:r>
            <a:r>
              <a:rPr lang="en-US" b="1" dirty="0"/>
              <a:t> </a:t>
            </a:r>
            <a:r>
              <a:rPr lang="en-US" b="1" err="1"/>
              <a:t>jocuri</a:t>
            </a:r>
            <a:endParaRPr lang="en-US" b="1"/>
          </a:p>
          <a:p>
            <a:r>
              <a:rPr lang="en-US" err="1"/>
              <a:t>Jocul</a:t>
            </a:r>
            <a:r>
              <a:rPr lang="en-US" dirty="0"/>
              <a:t> </a:t>
            </a:r>
            <a:r>
              <a:rPr lang="en-US" err="1"/>
              <a:t>este</a:t>
            </a:r>
            <a:r>
              <a:rPr lang="en-US" dirty="0"/>
              <a:t> </a:t>
            </a:r>
            <a:r>
              <a:rPr lang="en-US" err="1"/>
              <a:t>simulat</a:t>
            </a:r>
            <a:r>
              <a:rPr lang="en-US"/>
              <a:t> de 100 de </a:t>
            </a:r>
            <a:r>
              <a:rPr lang="en-US" err="1"/>
              <a:t>ori</a:t>
            </a:r>
            <a:r>
              <a:rPr lang="en-US"/>
              <a:t>.</a:t>
            </a:r>
          </a:p>
          <a:p>
            <a:r>
              <a:rPr lang="en-US" err="1"/>
              <a:t>Rezultatele</a:t>
            </a:r>
            <a:r>
              <a:rPr lang="en-US" dirty="0"/>
              <a:t> sunt:</a:t>
            </a:r>
          </a:p>
          <a:p>
            <a:pPr marL="285750" indent="-285750">
              <a:buFont typeface="Arial"/>
              <a:buChar char="•"/>
            </a:pPr>
            <a:r>
              <a:rPr lang="en-US" err="1"/>
              <a:t>salvate</a:t>
            </a:r>
            <a:r>
              <a:rPr lang="en-US" dirty="0"/>
              <a:t> </a:t>
            </a:r>
            <a:r>
              <a:rPr lang="en-US" err="1"/>
              <a:t>în</a:t>
            </a:r>
            <a:r>
              <a:rPr lang="en-US" dirty="0"/>
              <a:t> </a:t>
            </a:r>
            <a:r>
              <a:rPr lang="en-US" err="1"/>
              <a:t>fișier</a:t>
            </a:r>
            <a:r>
              <a:rPr lang="en-US" dirty="0"/>
              <a:t> CSV</a:t>
            </a:r>
          </a:p>
          <a:p>
            <a:pPr marL="285750" indent="-285750">
              <a:buFont typeface="Arial"/>
              <a:buChar char="•"/>
            </a:pPr>
            <a:r>
              <a:rPr lang="en-US" err="1"/>
              <a:t>analizate</a:t>
            </a:r>
            <a:r>
              <a:rPr lang="en-US" dirty="0"/>
              <a:t> statistic (</a:t>
            </a:r>
            <a:r>
              <a:rPr lang="en-US" err="1"/>
              <a:t>medii</a:t>
            </a:r>
            <a:r>
              <a:rPr lang="en-US" dirty="0"/>
              <a:t>, </a:t>
            </a:r>
            <a:r>
              <a:rPr lang="en-US" err="1"/>
              <a:t>distribuții</a:t>
            </a:r>
            <a:r>
              <a:rPr lang="en-US" dirty="0"/>
              <a:t>)</a:t>
            </a:r>
          </a:p>
          <a:p>
            <a:r>
              <a:rPr lang="en-US" dirty="0" err="1"/>
              <a:t>Permite</a:t>
            </a:r>
            <a:r>
              <a:rPr lang="en-US" dirty="0"/>
              <a:t> </a:t>
            </a:r>
            <a:r>
              <a:rPr lang="en-US" dirty="0" err="1"/>
              <a:t>evaluarea</a:t>
            </a:r>
            <a:r>
              <a:rPr lang="en-US" dirty="0"/>
              <a:t> </a:t>
            </a:r>
            <a:r>
              <a:rPr lang="en-US" dirty="0" err="1"/>
              <a:t>performanței</a:t>
            </a:r>
            <a:r>
              <a:rPr lang="en-US" dirty="0"/>
              <a:t> </a:t>
            </a:r>
            <a:r>
              <a:rPr lang="en-US" dirty="0" err="1"/>
              <a:t>strategiei</a:t>
            </a:r>
            <a:r>
              <a:rPr lang="en-US" dirty="0"/>
              <a:t> automate.</a:t>
            </a:r>
          </a:p>
          <a:p>
            <a:pPr algn="l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2199267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E6E611-3CEA-6C2F-1563-E7565D57DC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Strategia</a:t>
            </a:r>
            <a:r>
              <a:rPr lang="en-US" dirty="0"/>
              <a:t> de </a:t>
            </a:r>
            <a:r>
              <a:rPr lang="en-US" dirty="0" err="1"/>
              <a:t>joc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D7D7EDB-865E-F08B-A24C-A7019AA19C9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1115569" y="2436271"/>
            <a:ext cx="10877183" cy="3694176"/>
          </a:xfrm>
        </p:spPr>
        <p:txBody>
          <a:bodyPr vert="horz" lIns="91440" tIns="45720" rIns="91440" bIns="45720" rtlCol="0" anchor="t">
            <a:noAutofit/>
          </a:bodyPr>
          <a:lstStyle/>
          <a:p>
            <a:pPr marL="0" indent="0">
              <a:buNone/>
            </a:pPr>
            <a:r>
              <a:rPr lang="en-US" sz="1800" b="1" dirty="0" err="1"/>
              <a:t>Tipul</a:t>
            </a:r>
            <a:r>
              <a:rPr lang="en-US" sz="1800" b="1" dirty="0"/>
              <a:t> </a:t>
            </a:r>
            <a:r>
              <a:rPr lang="en-US" sz="1800" b="1" dirty="0" err="1"/>
              <a:t>strategiei</a:t>
            </a:r>
            <a:r>
              <a:rPr lang="en-US" sz="1800" b="1" dirty="0"/>
              <a:t>:</a:t>
            </a:r>
          </a:p>
          <a:p>
            <a:pPr marL="0" indent="0">
              <a:buNone/>
            </a:pPr>
            <a:r>
              <a:rPr lang="en-US" sz="1800" b="1" dirty="0">
                <a:ea typeface="+mn-lt"/>
                <a:cs typeface="+mn-lt"/>
              </a:rPr>
              <a:t>Greedy </a:t>
            </a:r>
            <a:endParaRPr lang="en-US" sz="1800" dirty="0">
              <a:ea typeface="+mn-lt"/>
              <a:cs typeface="+mn-lt"/>
            </a:endParaRPr>
          </a:p>
          <a:p>
            <a:r>
              <a:rPr lang="en-US" sz="1800" err="1">
                <a:ea typeface="+mn-lt"/>
                <a:cs typeface="+mn-lt"/>
              </a:rPr>
              <a:t>Alege</a:t>
            </a:r>
            <a:r>
              <a:rPr lang="en-US" sz="1800" dirty="0">
                <a:ea typeface="+mn-lt"/>
                <a:cs typeface="+mn-lt"/>
              </a:rPr>
              <a:t> prima </a:t>
            </a:r>
            <a:r>
              <a:rPr lang="en-US" sz="1800" err="1">
                <a:ea typeface="+mn-lt"/>
                <a:cs typeface="+mn-lt"/>
              </a:rPr>
              <a:t>mutare</a:t>
            </a:r>
            <a:r>
              <a:rPr lang="en-US" sz="1800" dirty="0">
                <a:ea typeface="+mn-lt"/>
                <a:cs typeface="+mn-lt"/>
              </a:rPr>
              <a:t> </a:t>
            </a:r>
            <a:r>
              <a:rPr lang="en-US" sz="1800" err="1">
                <a:ea typeface="+mn-lt"/>
                <a:cs typeface="+mn-lt"/>
              </a:rPr>
              <a:t>validă</a:t>
            </a:r>
            <a:r>
              <a:rPr lang="en-US" sz="1800" dirty="0">
                <a:ea typeface="+mn-lt"/>
                <a:cs typeface="+mn-lt"/>
              </a:rPr>
              <a:t> care produce o </a:t>
            </a:r>
            <a:r>
              <a:rPr lang="en-US" sz="1800" err="1">
                <a:ea typeface="+mn-lt"/>
                <a:cs typeface="+mn-lt"/>
              </a:rPr>
              <a:t>linie</a:t>
            </a:r>
            <a:r>
              <a:rPr lang="en-US" sz="1800" dirty="0">
                <a:ea typeface="+mn-lt"/>
                <a:cs typeface="+mn-lt"/>
              </a:rPr>
              <a:t> de minim 3 </a:t>
            </a:r>
            <a:r>
              <a:rPr lang="en-US" sz="1800" err="1">
                <a:ea typeface="+mn-lt"/>
                <a:cs typeface="+mn-lt"/>
              </a:rPr>
              <a:t>bomboane</a:t>
            </a:r>
            <a:r>
              <a:rPr lang="en-US" sz="1800" dirty="0">
                <a:ea typeface="+mn-lt"/>
                <a:cs typeface="+mn-lt"/>
              </a:rPr>
              <a:t>.</a:t>
            </a:r>
            <a:endParaRPr lang="en-US" sz="1800" dirty="0"/>
          </a:p>
          <a:p>
            <a:pPr lvl="1"/>
            <a:r>
              <a:rPr lang="en-US" sz="1800" dirty="0">
                <a:ea typeface="+mn-lt"/>
                <a:cs typeface="+mn-lt"/>
              </a:rPr>
              <a:t>Nu </a:t>
            </a:r>
            <a:r>
              <a:rPr lang="en-US" sz="1800" dirty="0" err="1">
                <a:ea typeface="+mn-lt"/>
                <a:cs typeface="+mn-lt"/>
              </a:rPr>
              <a:t>compară</a:t>
            </a:r>
            <a:r>
              <a:rPr lang="en-US" sz="1800" dirty="0">
                <a:ea typeface="+mn-lt"/>
                <a:cs typeface="+mn-lt"/>
              </a:rPr>
              <a:t> </a:t>
            </a:r>
            <a:r>
              <a:rPr lang="en-US" sz="1800" dirty="0" err="1">
                <a:ea typeface="+mn-lt"/>
                <a:cs typeface="+mn-lt"/>
              </a:rPr>
              <a:t>toate</a:t>
            </a:r>
            <a:r>
              <a:rPr lang="en-US" sz="1800" dirty="0">
                <a:ea typeface="+mn-lt"/>
                <a:cs typeface="+mn-lt"/>
              </a:rPr>
              <a:t> </a:t>
            </a:r>
            <a:r>
              <a:rPr lang="en-US" sz="1800" dirty="0" err="1">
                <a:ea typeface="+mn-lt"/>
                <a:cs typeface="+mn-lt"/>
              </a:rPr>
              <a:t>mutările</a:t>
            </a:r>
            <a:r>
              <a:rPr lang="en-US" sz="1800" dirty="0">
                <a:ea typeface="+mn-lt"/>
                <a:cs typeface="+mn-lt"/>
              </a:rPr>
              <a:t> </a:t>
            </a:r>
            <a:r>
              <a:rPr lang="en-US" sz="1800" dirty="0" err="1">
                <a:ea typeface="+mn-lt"/>
                <a:cs typeface="+mn-lt"/>
              </a:rPr>
              <a:t>posibile</a:t>
            </a:r>
            <a:r>
              <a:rPr lang="en-US" sz="1800" dirty="0">
                <a:ea typeface="+mn-lt"/>
                <a:cs typeface="+mn-lt"/>
              </a:rPr>
              <a:t> </a:t>
            </a:r>
            <a:r>
              <a:rPr lang="en-US" sz="1800" dirty="0" err="1">
                <a:ea typeface="+mn-lt"/>
                <a:cs typeface="+mn-lt"/>
              </a:rPr>
              <a:t>pentru</a:t>
            </a:r>
            <a:r>
              <a:rPr lang="en-US" sz="1800" dirty="0">
                <a:ea typeface="+mn-lt"/>
                <a:cs typeface="+mn-lt"/>
              </a:rPr>
              <a:t> </a:t>
            </a:r>
            <a:r>
              <a:rPr lang="en-US" sz="1800" dirty="0" err="1">
                <a:ea typeface="+mn-lt"/>
                <a:cs typeface="+mn-lt"/>
              </a:rPr>
              <a:t>scor</a:t>
            </a:r>
            <a:r>
              <a:rPr lang="en-US" sz="1800" dirty="0">
                <a:ea typeface="+mn-lt"/>
                <a:cs typeface="+mn-lt"/>
              </a:rPr>
              <a:t> maxim.</a:t>
            </a:r>
            <a:endParaRPr lang="en-US" sz="1800" dirty="0"/>
          </a:p>
          <a:p>
            <a:r>
              <a:rPr lang="en-US" sz="1800" b="1" dirty="0" err="1">
                <a:ea typeface="+mn-lt"/>
                <a:cs typeface="+mn-lt"/>
              </a:rPr>
              <a:t>Fără</a:t>
            </a:r>
            <a:r>
              <a:rPr lang="en-US" sz="1800" b="1" dirty="0">
                <a:ea typeface="+mn-lt"/>
                <a:cs typeface="+mn-lt"/>
              </a:rPr>
              <a:t> look-ahead</a:t>
            </a:r>
            <a:endParaRPr lang="en-US" sz="1800" dirty="0"/>
          </a:p>
          <a:p>
            <a:pPr lvl="1"/>
            <a:r>
              <a:rPr lang="en-US" sz="1800" dirty="0">
                <a:ea typeface="+mn-lt"/>
                <a:cs typeface="+mn-lt"/>
              </a:rPr>
              <a:t>Nu </a:t>
            </a:r>
            <a:r>
              <a:rPr lang="en-US" sz="1800" dirty="0" err="1">
                <a:ea typeface="+mn-lt"/>
                <a:cs typeface="+mn-lt"/>
              </a:rPr>
              <a:t>simulează</a:t>
            </a:r>
            <a:r>
              <a:rPr lang="en-US" sz="1800" dirty="0">
                <a:ea typeface="+mn-lt"/>
                <a:cs typeface="+mn-lt"/>
              </a:rPr>
              <a:t> </a:t>
            </a:r>
            <a:r>
              <a:rPr lang="en-US" sz="1800" dirty="0" err="1">
                <a:ea typeface="+mn-lt"/>
                <a:cs typeface="+mn-lt"/>
              </a:rPr>
              <a:t>mutări</a:t>
            </a:r>
            <a:r>
              <a:rPr lang="en-US" sz="1800" dirty="0">
                <a:ea typeface="+mn-lt"/>
                <a:cs typeface="+mn-lt"/>
              </a:rPr>
              <a:t> </a:t>
            </a:r>
            <a:r>
              <a:rPr lang="en-US" sz="1800" dirty="0" err="1">
                <a:ea typeface="+mn-lt"/>
                <a:cs typeface="+mn-lt"/>
              </a:rPr>
              <a:t>viitoare</a:t>
            </a:r>
            <a:r>
              <a:rPr lang="en-US" sz="1800" dirty="0">
                <a:ea typeface="+mn-lt"/>
                <a:cs typeface="+mn-lt"/>
              </a:rPr>
              <a:t>.</a:t>
            </a:r>
          </a:p>
          <a:p>
            <a:pPr lvl="1"/>
            <a:r>
              <a:rPr lang="en-US" sz="1800" dirty="0" err="1">
                <a:ea typeface="+mn-lt"/>
                <a:cs typeface="+mn-lt"/>
              </a:rPr>
              <a:t>Decizia</a:t>
            </a:r>
            <a:r>
              <a:rPr lang="en-US" sz="1800" dirty="0">
                <a:ea typeface="+mn-lt"/>
                <a:cs typeface="+mn-lt"/>
              </a:rPr>
              <a:t> </a:t>
            </a:r>
            <a:r>
              <a:rPr lang="en-US" sz="1800" dirty="0" err="1">
                <a:ea typeface="+mn-lt"/>
                <a:cs typeface="+mn-lt"/>
              </a:rPr>
              <a:t>este</a:t>
            </a:r>
            <a:r>
              <a:rPr lang="en-US" sz="1800" dirty="0">
                <a:ea typeface="+mn-lt"/>
                <a:cs typeface="+mn-lt"/>
              </a:rPr>
              <a:t> </a:t>
            </a:r>
            <a:r>
              <a:rPr lang="en-US" sz="1800" dirty="0" err="1">
                <a:ea typeface="+mn-lt"/>
                <a:cs typeface="+mn-lt"/>
              </a:rPr>
              <a:t>luată</a:t>
            </a:r>
            <a:r>
              <a:rPr lang="en-US" sz="1800" dirty="0">
                <a:ea typeface="+mn-lt"/>
                <a:cs typeface="+mn-lt"/>
              </a:rPr>
              <a:t> de </a:t>
            </a:r>
            <a:r>
              <a:rPr lang="en-US" sz="1800" dirty="0" err="1">
                <a:ea typeface="+mn-lt"/>
                <a:cs typeface="+mn-lt"/>
              </a:rPr>
              <a:t>tipul</a:t>
            </a:r>
            <a:r>
              <a:rPr lang="en-US" sz="1800" dirty="0">
                <a:ea typeface="+mn-lt"/>
                <a:cs typeface="+mn-lt"/>
              </a:rPr>
              <a:t> </a:t>
            </a:r>
            <a:r>
              <a:rPr lang="en-US" sz="1800" dirty="0" err="1">
                <a:ea typeface="+mn-lt"/>
                <a:cs typeface="+mn-lt"/>
              </a:rPr>
              <a:t>strategiei</a:t>
            </a:r>
            <a:r>
              <a:rPr lang="en-US" sz="1800" dirty="0">
                <a:ea typeface="+mn-lt"/>
                <a:cs typeface="+mn-lt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38814175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292795-BD3D-A0A8-A1DF-798A47B330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Direcții</a:t>
            </a:r>
            <a:r>
              <a:rPr lang="en-US" dirty="0"/>
              <a:t> </a:t>
            </a:r>
            <a:r>
              <a:rPr lang="en-US" dirty="0" err="1"/>
              <a:t>viitoare</a:t>
            </a:r>
            <a:r>
              <a:rPr lang="en-US" dirty="0"/>
              <a:t> de </a:t>
            </a:r>
            <a:r>
              <a:rPr lang="en-US" dirty="0" err="1"/>
              <a:t>îmbunătățire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37F4C87-56A0-9994-4675-8A713B354C3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02417" y="2311010"/>
            <a:ext cx="4728993" cy="3694176"/>
          </a:xfrm>
        </p:spPr>
        <p:txBody>
          <a:bodyPr vert="horz" lIns="91440" tIns="45720" rIns="91440" bIns="45720" rtlCol="0" anchor="t">
            <a:noAutofit/>
          </a:bodyPr>
          <a:lstStyle/>
          <a:p>
            <a:pPr marL="342900" indent="-342900"/>
            <a:r>
              <a:rPr lang="en-US" sz="1800" err="1"/>
              <a:t>Evaluare</a:t>
            </a:r>
            <a:r>
              <a:rPr lang="en-US" sz="1800" dirty="0"/>
              <a:t> </a:t>
            </a:r>
            <a:r>
              <a:rPr lang="en-US" sz="1800" err="1"/>
              <a:t>mai</a:t>
            </a:r>
            <a:r>
              <a:rPr lang="en-US" sz="1800" dirty="0"/>
              <a:t> </a:t>
            </a:r>
            <a:r>
              <a:rPr lang="en-US" sz="1800" err="1"/>
              <a:t>adâncă</a:t>
            </a:r>
            <a:r>
              <a:rPr lang="en-US" sz="1800" dirty="0"/>
              <a:t> (look-ahead)</a:t>
            </a:r>
          </a:p>
          <a:p>
            <a:r>
              <a:rPr lang="en-US" sz="1800" err="1"/>
              <a:t>Simularea</a:t>
            </a:r>
            <a:r>
              <a:rPr lang="en-US" sz="1800" dirty="0"/>
              <a:t> a 2–3 </a:t>
            </a:r>
            <a:r>
              <a:rPr lang="en-US" sz="1800" err="1"/>
              <a:t>mutări</a:t>
            </a:r>
            <a:r>
              <a:rPr lang="en-US" sz="1800" dirty="0"/>
              <a:t> </a:t>
            </a:r>
            <a:r>
              <a:rPr lang="en-US" sz="1800" err="1"/>
              <a:t>înainte</a:t>
            </a:r>
            <a:r>
              <a:rPr lang="en-US" sz="1800" dirty="0"/>
              <a:t> </a:t>
            </a:r>
            <a:r>
              <a:rPr lang="en-US" sz="1800" err="1"/>
              <a:t>pentru</a:t>
            </a:r>
            <a:r>
              <a:rPr lang="en-US" sz="1800" dirty="0"/>
              <a:t> </a:t>
            </a:r>
            <a:r>
              <a:rPr lang="en-US" sz="1800" err="1"/>
              <a:t>alegerea</a:t>
            </a:r>
            <a:r>
              <a:rPr lang="en-US" sz="1800" dirty="0"/>
              <a:t> </a:t>
            </a:r>
            <a:r>
              <a:rPr lang="en-US" sz="1800" err="1"/>
              <a:t>celei</a:t>
            </a:r>
            <a:r>
              <a:rPr lang="en-US" sz="1800" dirty="0"/>
              <a:t> </a:t>
            </a:r>
            <a:r>
              <a:rPr lang="en-US" sz="1800" err="1"/>
              <a:t>mai</a:t>
            </a:r>
            <a:r>
              <a:rPr lang="en-US" sz="1800" dirty="0"/>
              <a:t> </a:t>
            </a:r>
            <a:r>
              <a:rPr lang="en-US" sz="1800" err="1"/>
              <a:t>promițătoare</a:t>
            </a:r>
            <a:r>
              <a:rPr lang="en-US" sz="1800" dirty="0"/>
              <a:t>.</a:t>
            </a:r>
          </a:p>
          <a:p>
            <a:r>
              <a:rPr lang="en-US" sz="1800" dirty="0" err="1"/>
              <a:t>Funcție</a:t>
            </a:r>
            <a:r>
              <a:rPr lang="en-US" sz="1800" dirty="0"/>
              <a:t> de </a:t>
            </a:r>
            <a:r>
              <a:rPr lang="en-US" sz="1800" dirty="0" err="1"/>
              <a:t>scor</a:t>
            </a:r>
            <a:r>
              <a:rPr lang="en-US" sz="1800" dirty="0"/>
              <a:t> </a:t>
            </a:r>
            <a:r>
              <a:rPr lang="en-US" sz="1800" dirty="0" err="1"/>
              <a:t>avansată</a:t>
            </a:r>
            <a:endParaRPr lang="en-US" sz="1800" dirty="0"/>
          </a:p>
          <a:p>
            <a:r>
              <a:rPr lang="en-US" sz="1800" err="1"/>
              <a:t>Estimarea</a:t>
            </a:r>
            <a:r>
              <a:rPr lang="en-US" sz="1800" dirty="0"/>
              <a:t> </a:t>
            </a:r>
            <a:r>
              <a:rPr lang="en-US" sz="1800" err="1"/>
              <a:t>numărului</a:t>
            </a:r>
            <a:r>
              <a:rPr lang="en-US" sz="1800" dirty="0"/>
              <a:t> de cascade, </a:t>
            </a:r>
            <a:r>
              <a:rPr lang="en-US" sz="1800" err="1"/>
              <a:t>forme</a:t>
            </a:r>
            <a:r>
              <a:rPr lang="en-US" sz="1800" dirty="0"/>
              <a:t> </a:t>
            </a:r>
            <a:r>
              <a:rPr lang="en-US" sz="1800" err="1"/>
              <a:t>speciale</a:t>
            </a:r>
            <a:r>
              <a:rPr lang="en-US" sz="1800" dirty="0"/>
              <a:t> </a:t>
            </a:r>
            <a:r>
              <a:rPr lang="en-US" sz="1800" err="1"/>
              <a:t>și</a:t>
            </a:r>
            <a:r>
              <a:rPr lang="en-US" sz="1800" dirty="0"/>
              <a:t> </a:t>
            </a:r>
            <a:r>
              <a:rPr lang="en-US" sz="1800" err="1"/>
              <a:t>stabilitatea</a:t>
            </a:r>
            <a:r>
              <a:rPr lang="en-US" sz="1800" dirty="0"/>
              <a:t> </a:t>
            </a:r>
            <a:r>
              <a:rPr lang="en-US" sz="1800" err="1"/>
              <a:t>tablei</a:t>
            </a:r>
            <a:r>
              <a:rPr lang="en-US" sz="1800" dirty="0"/>
              <a:t>.</a:t>
            </a:r>
          </a:p>
          <a:p>
            <a:r>
              <a:rPr lang="en-US" sz="1800" dirty="0" err="1"/>
              <a:t>Căutare</a:t>
            </a:r>
            <a:r>
              <a:rPr lang="en-US" sz="1800" dirty="0"/>
              <a:t> </a:t>
            </a:r>
            <a:r>
              <a:rPr lang="en-US" sz="1800" dirty="0" err="1"/>
              <a:t>heuristică</a:t>
            </a:r>
            <a:endParaRPr lang="en-US" sz="1800" dirty="0"/>
          </a:p>
          <a:p>
            <a:r>
              <a:rPr lang="en-US" sz="1800" err="1"/>
              <a:t>Compararea</a:t>
            </a:r>
            <a:r>
              <a:rPr lang="en-US" sz="1800" dirty="0"/>
              <a:t> </a:t>
            </a:r>
            <a:r>
              <a:rPr lang="en-US" sz="1800" err="1"/>
              <a:t>tuturor</a:t>
            </a:r>
            <a:r>
              <a:rPr lang="en-US" sz="1800" dirty="0"/>
              <a:t> </a:t>
            </a:r>
            <a:r>
              <a:rPr lang="en-US" sz="1800" err="1"/>
              <a:t>mutărilor</a:t>
            </a:r>
            <a:r>
              <a:rPr lang="en-US" sz="1800" dirty="0"/>
              <a:t> </a:t>
            </a:r>
            <a:r>
              <a:rPr lang="en-US" sz="1800" err="1"/>
              <a:t>valide</a:t>
            </a:r>
            <a:r>
              <a:rPr lang="en-US" sz="1800" dirty="0"/>
              <a:t> </a:t>
            </a:r>
            <a:r>
              <a:rPr lang="en-US" sz="1800" err="1"/>
              <a:t>folosind</a:t>
            </a:r>
            <a:r>
              <a:rPr lang="en-US" sz="1800" dirty="0"/>
              <a:t> </a:t>
            </a:r>
            <a:r>
              <a:rPr lang="en-US" sz="1800" err="1"/>
              <a:t>scoruri</a:t>
            </a:r>
            <a:r>
              <a:rPr lang="en-US" sz="1800" dirty="0"/>
              <a:t> estimate.</a:t>
            </a:r>
          </a:p>
          <a:p>
            <a:r>
              <a:rPr lang="en-US" sz="1800" dirty="0" err="1"/>
              <a:t>Învățare</a:t>
            </a:r>
            <a:r>
              <a:rPr lang="en-US" sz="1800" dirty="0"/>
              <a:t> </a:t>
            </a:r>
            <a:r>
              <a:rPr lang="en-US" sz="1800" dirty="0" err="1"/>
              <a:t>automată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DA9404A-1296-68A7-11DC-A5CD854F0616}"/>
              </a:ext>
            </a:extLst>
          </p:cNvPr>
          <p:cNvSpPr txBox="1"/>
          <p:nvPr/>
        </p:nvSpPr>
        <p:spPr>
          <a:xfrm>
            <a:off x="6194743" y="2308189"/>
            <a:ext cx="5321471" cy="4185761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285750" indent="-285750">
              <a:lnSpc>
                <a:spcPct val="110000"/>
              </a:lnSpc>
              <a:spcBef>
                <a:spcPts val="1000"/>
              </a:spcBef>
              <a:buFont typeface="Arial"/>
              <a:buChar char="•"/>
            </a:pPr>
            <a:r>
              <a:rPr lang="en-US" err="1"/>
              <a:t>Învățare</a:t>
            </a:r>
            <a:r>
              <a:rPr lang="en-US"/>
              <a:t> </a:t>
            </a:r>
            <a:r>
              <a:rPr lang="en-US" err="1"/>
              <a:t>automată</a:t>
            </a:r>
          </a:p>
          <a:p>
            <a:pPr marL="285750" indent="-285750">
              <a:lnSpc>
                <a:spcPct val="110000"/>
              </a:lnSpc>
              <a:spcBef>
                <a:spcPts val="1000"/>
              </a:spcBef>
              <a:buFont typeface="Arial"/>
              <a:buChar char="•"/>
            </a:pPr>
            <a:r>
              <a:rPr lang="en-US"/>
              <a:t>Reinforcement Learning </a:t>
            </a:r>
            <a:r>
              <a:rPr lang="en-US" err="1"/>
              <a:t>pentru</a:t>
            </a:r>
            <a:r>
              <a:rPr lang="en-US"/>
              <a:t> </a:t>
            </a:r>
            <a:r>
              <a:rPr lang="en-US" err="1"/>
              <a:t>învățarea</a:t>
            </a:r>
            <a:r>
              <a:rPr lang="en-US"/>
              <a:t> </a:t>
            </a:r>
            <a:r>
              <a:rPr lang="en-US" err="1"/>
              <a:t>unei</a:t>
            </a:r>
            <a:r>
              <a:rPr lang="en-US"/>
              <a:t> </a:t>
            </a:r>
            <a:r>
              <a:rPr lang="en-US" err="1"/>
              <a:t>politici</a:t>
            </a:r>
            <a:r>
              <a:rPr lang="en-US"/>
              <a:t> optime de </a:t>
            </a:r>
            <a:r>
              <a:rPr lang="en-US" err="1"/>
              <a:t>mutări</a:t>
            </a:r>
            <a:r>
              <a:rPr lang="en-US"/>
              <a:t>.</a:t>
            </a:r>
          </a:p>
          <a:p>
            <a:pPr marL="285750" indent="-285750">
              <a:lnSpc>
                <a:spcPct val="110000"/>
              </a:lnSpc>
              <a:spcBef>
                <a:spcPts val="1000"/>
              </a:spcBef>
              <a:buFont typeface="Arial"/>
              <a:buChar char="•"/>
            </a:pPr>
            <a:r>
              <a:rPr lang="en-US" err="1"/>
              <a:t>Optimizări</a:t>
            </a:r>
            <a:r>
              <a:rPr lang="en-US"/>
              <a:t> de </a:t>
            </a:r>
            <a:r>
              <a:rPr lang="en-US" err="1"/>
              <a:t>performanță</a:t>
            </a:r>
          </a:p>
          <a:p>
            <a:pPr marL="285750" indent="-285750">
              <a:lnSpc>
                <a:spcPct val="110000"/>
              </a:lnSpc>
              <a:spcBef>
                <a:spcPts val="1000"/>
              </a:spcBef>
              <a:buFont typeface="Arial"/>
              <a:buChar char="•"/>
            </a:pPr>
            <a:r>
              <a:rPr lang="en-US" err="1"/>
              <a:t>Paralelizare</a:t>
            </a:r>
            <a:r>
              <a:rPr lang="en-US"/>
              <a:t>, pruning, </a:t>
            </a:r>
            <a:r>
              <a:rPr lang="en-US" err="1"/>
              <a:t>simulări</a:t>
            </a:r>
            <a:r>
              <a:rPr lang="en-US"/>
              <a:t> Monte Carlo.</a:t>
            </a:r>
          </a:p>
          <a:p>
            <a:pPr marL="285750" indent="-285750">
              <a:lnSpc>
                <a:spcPct val="110000"/>
              </a:lnSpc>
              <a:spcBef>
                <a:spcPts val="1000"/>
              </a:spcBef>
              <a:buFont typeface="Arial"/>
              <a:buChar char="•"/>
            </a:pPr>
            <a:r>
              <a:rPr lang="en-US" err="1"/>
              <a:t>Analiză</a:t>
            </a:r>
            <a:r>
              <a:rPr lang="en-US"/>
              <a:t> </a:t>
            </a:r>
            <a:r>
              <a:rPr lang="en-US" err="1"/>
              <a:t>statistică</a:t>
            </a:r>
            <a:r>
              <a:rPr lang="en-US"/>
              <a:t> </a:t>
            </a:r>
            <a:r>
              <a:rPr lang="en-US" err="1"/>
              <a:t>extinsă</a:t>
            </a:r>
          </a:p>
          <a:p>
            <a:pPr marL="285750" indent="-285750">
              <a:lnSpc>
                <a:spcPct val="110000"/>
              </a:lnSpc>
              <a:spcBef>
                <a:spcPts val="1000"/>
              </a:spcBef>
              <a:buFont typeface="Arial"/>
              <a:buChar char="•"/>
            </a:pPr>
            <a:r>
              <a:rPr lang="en-US" err="1"/>
              <a:t>Testarea</a:t>
            </a:r>
            <a:r>
              <a:rPr lang="en-US"/>
              <a:t> pe mii de </a:t>
            </a:r>
            <a:r>
              <a:rPr lang="en-US" err="1"/>
              <a:t>jocuri</a:t>
            </a:r>
            <a:r>
              <a:rPr lang="en-US"/>
              <a:t> </a:t>
            </a:r>
            <a:r>
              <a:rPr lang="en-US" err="1"/>
              <a:t>și</a:t>
            </a:r>
            <a:r>
              <a:rPr lang="en-US"/>
              <a:t> pe </a:t>
            </a:r>
            <a:r>
              <a:rPr lang="en-US" err="1"/>
              <a:t>dimensiuni</a:t>
            </a:r>
            <a:r>
              <a:rPr lang="en-US"/>
              <a:t> variate de </a:t>
            </a:r>
            <a:r>
              <a:rPr lang="en-US" err="1"/>
              <a:t>tablă</a:t>
            </a:r>
            <a:r>
              <a:rPr lang="en-US"/>
              <a:t>.</a:t>
            </a:r>
          </a:p>
          <a:p>
            <a:pPr marL="285750" indent="-285750">
              <a:lnSpc>
                <a:spcPct val="110000"/>
              </a:lnSpc>
              <a:spcBef>
                <a:spcPts val="1000"/>
              </a:spcBef>
              <a:buFont typeface="Arial"/>
              <a:buChar char="•"/>
            </a:pPr>
            <a:endParaRPr lang="en-US" dirty="0"/>
          </a:p>
          <a:p>
            <a:pPr algn="l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64989463"/>
      </p:ext>
    </p:extLst>
  </p:cSld>
  <p:clrMapOvr>
    <a:masterClrMapping/>
  </p:clrMapOvr>
</p:sld>
</file>

<file path=ppt/theme/theme1.xml><?xml version="1.0" encoding="utf-8"?>
<a:theme xmlns:a="http://schemas.openxmlformats.org/drawingml/2006/main" name="AccentBoxVTI">
  <a:themeElements>
    <a:clrScheme name="AccentBoxVTI">
      <a:dk1>
        <a:srgbClr val="000000"/>
      </a:dk1>
      <a:lt1>
        <a:sysClr val="window" lastClr="FFFFFF"/>
      </a:lt1>
      <a:dk2>
        <a:srgbClr val="262626"/>
      </a:dk2>
      <a:lt2>
        <a:srgbClr val="FFFFFF"/>
      </a:lt2>
      <a:accent1>
        <a:srgbClr val="F5A700"/>
      </a:accent1>
      <a:accent2>
        <a:srgbClr val="00A5AB"/>
      </a:accent2>
      <a:accent3>
        <a:srgbClr val="09963B"/>
      </a:accent3>
      <a:accent4>
        <a:srgbClr val="E64823"/>
      </a:accent4>
      <a:accent5>
        <a:srgbClr val="9C6A6A"/>
      </a:accent5>
      <a:accent6>
        <a:srgbClr val="824F8C"/>
      </a:accent6>
      <a:hlink>
        <a:srgbClr val="2998E3"/>
      </a:hlink>
      <a:folHlink>
        <a:srgbClr val="7F723D"/>
      </a:folHlink>
    </a:clrScheme>
    <a:fontScheme name="Avenir">
      <a:majorFont>
        <a:latin typeface="Neue Haas Grotesk Text Pro"/>
        <a:ea typeface=""/>
        <a:cs typeface=""/>
      </a:majorFont>
      <a:minorFont>
        <a:latin typeface="Neue Haas Grotesk Text Pro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AccentBoxVTI" id="{9F778A78-DC9A-453A-A82D-A75CAD503E15}" vid="{EA961113-7CC4-4569-8A6A-7BC2C1E2F401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Widescreen</PresentationFormat>
  <Paragraphs>0</Paragraphs>
  <Slides>7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8" baseType="lpstr">
      <vt:lpstr>AccentBoxVTI</vt:lpstr>
      <vt:lpstr>Candy Crush</vt:lpstr>
      <vt:lpstr>Scopul jocului </vt:lpstr>
      <vt:lpstr>Funcționare</vt:lpstr>
      <vt:lpstr>PowerPoint Presentation</vt:lpstr>
      <vt:lpstr>PowerPoint Presentation</vt:lpstr>
      <vt:lpstr>Strategia de joc</vt:lpstr>
      <vt:lpstr>Direcții viitoare de îmbunătățire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/>
  <cp:revision>248</cp:revision>
  <dcterms:created xsi:type="dcterms:W3CDTF">2025-12-11T16:10:49Z</dcterms:created>
  <dcterms:modified xsi:type="dcterms:W3CDTF">2025-12-15T15:04:24Z</dcterms:modified>
</cp:coreProperties>
</file>