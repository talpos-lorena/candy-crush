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40B85B-B29A-CFDE-9093-8280CFBB08AC}" v="481" dt="2025-12-15T14:57:04.6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257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8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039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558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03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476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017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994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758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586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684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99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54" r:id="rId6"/>
    <p:sldLayoutId id="2147483750" r:id="rId7"/>
    <p:sldLayoutId id="2147483751" r:id="rId8"/>
    <p:sldLayoutId id="2147483752" r:id="rId9"/>
    <p:sldLayoutId id="2147483753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4940E82-C34F-9B6A-3E20-CD7C1549D4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1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D19661F-4B4C-74C1-7FC3-31FB14D49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6955" y="-166956"/>
            <a:ext cx="6858002" cy="719191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55000"/>
                </a:schemeClr>
              </a:gs>
              <a:gs pos="25000">
                <a:schemeClr val="bg1">
                  <a:alpha val="38000"/>
                </a:schemeClr>
              </a:gs>
              <a:gs pos="100000">
                <a:schemeClr val="bg1">
                  <a:alpha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1414940" y="310520"/>
            <a:ext cx="4023360" cy="3200400"/>
          </a:xfrm>
        </p:spPr>
        <p:txBody>
          <a:bodyPr anchor="b">
            <a:normAutofit/>
          </a:bodyPr>
          <a:lstStyle/>
          <a:p>
            <a:r>
              <a:rPr lang="ro-RO" sz="4800" dirty="0" err="1"/>
              <a:t>Candy</a:t>
            </a:r>
            <a:r>
              <a:rPr lang="ro-RO" sz="4800" dirty="0"/>
              <a:t> </a:t>
            </a:r>
            <a:r>
              <a:rPr lang="ro-RO" sz="4800" dirty="0" err="1"/>
              <a:t>Crush</a:t>
            </a:r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-4676" y="6376875"/>
            <a:ext cx="4023360" cy="1207008"/>
          </a:xfrm>
        </p:spPr>
        <p:txBody>
          <a:bodyPr anchor="t">
            <a:normAutofit/>
          </a:bodyPr>
          <a:lstStyle/>
          <a:p>
            <a:r>
              <a:rPr lang="ro-RO" sz="2000" dirty="0" err="1"/>
              <a:t>Talpos</a:t>
            </a:r>
            <a:r>
              <a:rPr lang="ro-RO" sz="2000" dirty="0"/>
              <a:t> Lorena Daiana</a:t>
            </a:r>
          </a:p>
          <a:p>
            <a:endParaRPr lang="ro-RO" sz="2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65A4AE-FFE9-B2D5-017C-17337DDB3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7911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B5A858-029A-C9C3-E64E-04876DAFF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dirty="0" err="1"/>
              <a:t>Scopul</a:t>
            </a:r>
            <a:r>
              <a:rPr lang="en-US" dirty="0"/>
              <a:t> </a:t>
            </a:r>
            <a:r>
              <a:rPr lang="en-US" dirty="0" err="1"/>
              <a:t>jocului</a:t>
            </a:r>
            <a:r>
              <a:rPr lang="en-US" dirty="0"/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B41D8-26C8-A38A-D1FA-AC6DD6DB5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pPr marL="342900" indent="-342900">
              <a:lnSpc>
                <a:spcPct val="90000"/>
              </a:lnSpc>
            </a:pPr>
            <a:r>
              <a:rPr lang="en-US" sz="2000" b="1" err="1"/>
              <a:t>Potrivește</a:t>
            </a:r>
            <a:r>
              <a:rPr lang="en-US" sz="2000" b="1"/>
              <a:t> minim 3 bomboane de același tip pe rând sau coloană.</a:t>
            </a:r>
            <a:endParaRPr lang="en-US"/>
          </a:p>
          <a:p>
            <a:pPr marL="342900" indent="-342900">
              <a:lnSpc>
                <a:spcPct val="90000"/>
              </a:lnSpc>
            </a:pPr>
            <a:r>
              <a:rPr lang="en-US" sz="2000" b="1" err="1"/>
              <a:t>Crează</a:t>
            </a:r>
            <a:r>
              <a:rPr lang="en-US" sz="2000" b="1"/>
              <a:t> </a:t>
            </a:r>
            <a:r>
              <a:rPr lang="en-US" sz="2000" b="1" err="1"/>
              <a:t>forme</a:t>
            </a:r>
            <a:r>
              <a:rPr lang="en-US" sz="2000" b="1"/>
              <a:t> </a:t>
            </a:r>
            <a:r>
              <a:rPr lang="en-US" sz="2000" b="1" err="1"/>
              <a:t>speciale</a:t>
            </a:r>
            <a:r>
              <a:rPr lang="en-US" sz="2000" b="1"/>
              <a:t> (L, T, 4-5 la rând) pentru bonusuri.</a:t>
            </a:r>
            <a:endParaRPr lang="en-US"/>
          </a:p>
          <a:p>
            <a:pPr marL="342900" indent="-342900">
              <a:lnSpc>
                <a:spcPct val="90000"/>
              </a:lnSpc>
            </a:pPr>
            <a:r>
              <a:rPr lang="en-US" sz="2000" b="1" err="1"/>
              <a:t>Obține</a:t>
            </a:r>
            <a:r>
              <a:rPr lang="en-US" sz="2000" b="1"/>
              <a:t> </a:t>
            </a:r>
            <a:r>
              <a:rPr lang="en-US" sz="2000" b="1" err="1"/>
              <a:t>cât</a:t>
            </a:r>
            <a:r>
              <a:rPr lang="en-US" sz="2000" b="1"/>
              <a:t> </a:t>
            </a:r>
            <a:r>
              <a:rPr lang="en-US" sz="2000" b="1" err="1"/>
              <a:t>mai</a:t>
            </a:r>
            <a:r>
              <a:rPr lang="en-US" sz="2000" b="1"/>
              <a:t> </a:t>
            </a:r>
            <a:r>
              <a:rPr lang="en-US" sz="2000" b="1" err="1"/>
              <a:t>multe</a:t>
            </a:r>
            <a:r>
              <a:rPr lang="en-US" sz="2000" b="1"/>
              <a:t> </a:t>
            </a:r>
            <a:r>
              <a:rPr lang="en-US" sz="2000" b="1" err="1"/>
              <a:t>puncte</a:t>
            </a:r>
            <a:r>
              <a:rPr lang="en-US" sz="2000" b="1"/>
              <a:t> </a:t>
            </a:r>
            <a:r>
              <a:rPr lang="en-US" sz="2000" b="1" err="1"/>
              <a:t>înainte</a:t>
            </a:r>
            <a:r>
              <a:rPr lang="en-US" sz="2000" b="1"/>
              <a:t> de a </a:t>
            </a:r>
            <a:r>
              <a:rPr lang="en-US" sz="2000" b="1" err="1"/>
              <a:t>rămâne</a:t>
            </a:r>
            <a:r>
              <a:rPr lang="en-US" sz="2000" b="1"/>
              <a:t> </a:t>
            </a:r>
            <a:r>
              <a:rPr lang="en-US" sz="2000" b="1" err="1"/>
              <a:t>fără</a:t>
            </a:r>
            <a:r>
              <a:rPr lang="en-US" sz="2000" b="1"/>
              <a:t> </a:t>
            </a:r>
            <a:r>
              <a:rPr lang="en-US" sz="2000" b="1" err="1"/>
              <a:t>mutări</a:t>
            </a:r>
            <a:r>
              <a:rPr lang="en-US" sz="2000" b="1"/>
              <a:t>.</a:t>
            </a:r>
            <a:endParaRPr lang="en-US"/>
          </a:p>
          <a:p>
            <a:pPr marL="342900" indent="-342900">
              <a:lnSpc>
                <a:spcPct val="90000"/>
              </a:lnSpc>
            </a:pPr>
            <a:r>
              <a:rPr lang="en-US" sz="2000" b="1" err="1"/>
              <a:t>Îndeplinește</a:t>
            </a:r>
            <a:r>
              <a:rPr lang="en-US" sz="2000" b="1"/>
              <a:t> </a:t>
            </a:r>
            <a:r>
              <a:rPr lang="en-US" sz="2000" b="1" err="1"/>
              <a:t>ținta</a:t>
            </a:r>
            <a:r>
              <a:rPr lang="en-US" sz="2000" b="1"/>
              <a:t> de </a:t>
            </a:r>
            <a:r>
              <a:rPr lang="en-US" sz="2000" b="1" err="1"/>
              <a:t>puncte</a:t>
            </a:r>
            <a:r>
              <a:rPr lang="en-US" sz="2000" b="1"/>
              <a:t> </a:t>
            </a:r>
            <a:r>
              <a:rPr lang="en-US" sz="2000" b="1" err="1"/>
              <a:t>pentru</a:t>
            </a:r>
            <a:r>
              <a:rPr lang="en-US" sz="2000" b="1"/>
              <a:t> a </a:t>
            </a:r>
            <a:r>
              <a:rPr lang="en-US" sz="2000" b="1" err="1"/>
              <a:t>trece</a:t>
            </a:r>
            <a:r>
              <a:rPr lang="en-US" sz="2000" b="1"/>
              <a:t> la </a:t>
            </a:r>
            <a:r>
              <a:rPr lang="en-US" sz="2000" b="1" err="1"/>
              <a:t>nivelul</a:t>
            </a:r>
            <a:r>
              <a:rPr lang="en-US" sz="2000" b="1"/>
              <a:t> </a:t>
            </a:r>
            <a:r>
              <a:rPr lang="en-US" sz="2000" b="1" err="1"/>
              <a:t>următor</a:t>
            </a:r>
            <a:r>
              <a:rPr lang="en-US" sz="2000" b="1"/>
              <a:t>.</a:t>
            </a:r>
            <a:endParaRPr lang="en-US"/>
          </a:p>
          <a:p>
            <a:pPr marL="0" indent="0">
              <a:lnSpc>
                <a:spcPct val="90000"/>
              </a:lnSpc>
              <a:buNone/>
            </a:pPr>
            <a:endParaRPr lang="en-US" sz="2000" b="1" dirty="0"/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788097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90CF0-AAF0-BEFE-9527-8CF7575D7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Funcționare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F967D-BBA3-CCEA-F9A8-600F4489F7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 err="1"/>
              <a:t>Inițializarea</a:t>
            </a:r>
            <a:r>
              <a:rPr lang="en-US" sz="2000" b="1" dirty="0"/>
              <a:t> </a:t>
            </a:r>
            <a:r>
              <a:rPr lang="en-US" sz="2000" b="1" dirty="0" err="1"/>
              <a:t>jocului</a:t>
            </a:r>
            <a:endParaRPr lang="en-US" sz="2000" b="1" dirty="0"/>
          </a:p>
          <a:p>
            <a:pPr>
              <a:lnSpc>
                <a:spcPct val="100000"/>
              </a:lnSpc>
            </a:pPr>
            <a:r>
              <a:rPr lang="en-US" sz="2000" dirty="0">
                <a:ea typeface="+mn-lt"/>
                <a:cs typeface="+mn-lt"/>
              </a:rPr>
              <a:t>Se </a:t>
            </a:r>
            <a:r>
              <a:rPr lang="en-US" sz="2000" dirty="0" err="1">
                <a:ea typeface="+mn-lt"/>
                <a:cs typeface="+mn-lt"/>
              </a:rPr>
              <a:t>definesc</a:t>
            </a:r>
            <a:r>
              <a:rPr lang="en-US" sz="2000" dirty="0">
                <a:ea typeface="+mn-lt"/>
                <a:cs typeface="+mn-lt"/>
              </a:rPr>
              <a:t>: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dirty="0" err="1">
                <a:ea typeface="+mn-lt"/>
                <a:cs typeface="+mn-lt"/>
              </a:rPr>
              <a:t>dimensiunea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tablei</a:t>
            </a:r>
            <a:r>
              <a:rPr lang="en-US" sz="2000" dirty="0">
                <a:ea typeface="+mn-lt"/>
                <a:cs typeface="+mn-lt"/>
              </a:rPr>
              <a:t> (ex. 11×11)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dirty="0" err="1">
                <a:ea typeface="+mn-lt"/>
                <a:cs typeface="+mn-lt"/>
              </a:rPr>
              <a:t>tipurile</a:t>
            </a:r>
            <a:r>
              <a:rPr lang="en-US" sz="2000" dirty="0">
                <a:ea typeface="+mn-lt"/>
                <a:cs typeface="+mn-lt"/>
              </a:rPr>
              <a:t> de </a:t>
            </a:r>
            <a:r>
              <a:rPr lang="en-US" sz="2000" dirty="0" err="1">
                <a:ea typeface="+mn-lt"/>
                <a:cs typeface="+mn-lt"/>
              </a:rPr>
              <a:t>bomboane</a:t>
            </a:r>
            <a:r>
              <a:rPr lang="en-US" sz="2000" dirty="0">
                <a:ea typeface="+mn-lt"/>
                <a:cs typeface="+mn-lt"/>
              </a:rPr>
              <a:t> (</a:t>
            </a:r>
            <a:r>
              <a:rPr lang="en-US" sz="2000" dirty="0" err="1">
                <a:ea typeface="+mn-lt"/>
                <a:cs typeface="+mn-lt"/>
              </a:rPr>
              <a:t>valori</a:t>
            </a:r>
            <a:r>
              <a:rPr lang="en-US" sz="2000" dirty="0">
                <a:ea typeface="+mn-lt"/>
                <a:cs typeface="+mn-lt"/>
              </a:rPr>
              <a:t> 1–4)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dirty="0" err="1">
                <a:ea typeface="+mn-lt"/>
                <a:cs typeface="+mn-lt"/>
              </a:rPr>
              <a:t>regulile</a:t>
            </a:r>
            <a:r>
              <a:rPr lang="en-US" sz="2000" dirty="0">
                <a:ea typeface="+mn-lt"/>
                <a:cs typeface="+mn-lt"/>
              </a:rPr>
              <a:t> de </a:t>
            </a:r>
            <a:r>
              <a:rPr lang="en-US" sz="2000" dirty="0" err="1">
                <a:ea typeface="+mn-lt"/>
                <a:cs typeface="+mn-lt"/>
              </a:rPr>
              <a:t>scor</a:t>
            </a:r>
            <a:r>
              <a:rPr lang="en-US" sz="2000" dirty="0">
                <a:ea typeface="+mn-lt"/>
                <a:cs typeface="+mn-lt"/>
              </a:rPr>
              <a:t> (</a:t>
            </a:r>
            <a:r>
              <a:rPr lang="en-US" sz="2000" dirty="0" err="1">
                <a:ea typeface="+mn-lt"/>
                <a:cs typeface="+mn-lt"/>
              </a:rPr>
              <a:t>linii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forme</a:t>
            </a:r>
            <a:r>
              <a:rPr lang="en-US" sz="2000" dirty="0">
                <a:ea typeface="+mn-lt"/>
                <a:cs typeface="+mn-lt"/>
              </a:rPr>
              <a:t> L </a:t>
            </a:r>
            <a:r>
              <a:rPr lang="en-US" sz="2000" dirty="0" err="1">
                <a:ea typeface="+mn-lt"/>
                <a:cs typeface="+mn-lt"/>
              </a:rPr>
              <a:t>și</a:t>
            </a:r>
            <a:r>
              <a:rPr lang="en-US" sz="2000" dirty="0">
                <a:ea typeface="+mn-lt"/>
                <a:cs typeface="+mn-lt"/>
              </a:rPr>
              <a:t> T)</a:t>
            </a:r>
            <a:endParaRPr lang="en-US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ea typeface="+mn-lt"/>
                <a:cs typeface="+mn-lt"/>
              </a:rPr>
              <a:t>   </a:t>
            </a:r>
            <a:r>
              <a:rPr lang="en-US" sz="2000" dirty="0" err="1">
                <a:ea typeface="+mn-lt"/>
                <a:cs typeface="+mn-lt"/>
              </a:rPr>
              <a:t>Tabla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este</a:t>
            </a:r>
            <a:r>
              <a:rPr lang="en-US" sz="2000" dirty="0">
                <a:ea typeface="+mn-lt"/>
                <a:cs typeface="+mn-lt"/>
              </a:rPr>
              <a:t>: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dirty="0">
                <a:ea typeface="+mn-lt"/>
                <a:cs typeface="+mn-lt"/>
              </a:rPr>
              <a:t>fie </a:t>
            </a:r>
            <a:r>
              <a:rPr lang="en-US" sz="2000" dirty="0" err="1">
                <a:ea typeface="+mn-lt"/>
                <a:cs typeface="+mn-lt"/>
              </a:rPr>
              <a:t>generată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aleator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dirty="0">
                <a:ea typeface="+mn-lt"/>
                <a:cs typeface="+mn-lt"/>
              </a:rPr>
              <a:t>fie </a:t>
            </a:r>
            <a:r>
              <a:rPr lang="en-US" sz="2000" dirty="0" err="1">
                <a:ea typeface="+mn-lt"/>
                <a:cs typeface="+mn-lt"/>
              </a:rPr>
              <a:t>încărcată</a:t>
            </a:r>
            <a:r>
              <a:rPr lang="en-US" sz="2000" dirty="0">
                <a:ea typeface="+mn-lt"/>
                <a:cs typeface="+mn-lt"/>
              </a:rPr>
              <a:t> din </a:t>
            </a:r>
            <a:r>
              <a:rPr lang="en-US" sz="2000" dirty="0" err="1">
                <a:ea typeface="+mn-lt"/>
                <a:cs typeface="+mn-lt"/>
              </a:rPr>
              <a:t>fișiere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predefinite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B04E12-6FF0-FCAC-069F-E84EE6F87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96457" y="2478024"/>
            <a:ext cx="4937760" cy="369417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     </a:t>
            </a:r>
            <a:r>
              <a:rPr lang="en-US" sz="2000" b="1" dirty="0" err="1"/>
              <a:t>Detectarea</a:t>
            </a:r>
            <a:r>
              <a:rPr lang="en-US" sz="2000" b="1" dirty="0"/>
              <a:t> </a:t>
            </a:r>
            <a:r>
              <a:rPr lang="en-US" sz="2000" b="1" dirty="0" err="1"/>
              <a:t>formelor</a:t>
            </a:r>
            <a:r>
              <a:rPr lang="en-US" sz="2000" b="1" dirty="0"/>
              <a:t> </a:t>
            </a:r>
            <a:r>
              <a:rPr lang="en-US" sz="2000" b="1" dirty="0" err="1"/>
              <a:t>valide</a:t>
            </a:r>
            <a:endParaRPr lang="en-US" sz="2000" b="1" dirty="0"/>
          </a:p>
          <a:p>
            <a:pPr>
              <a:lnSpc>
                <a:spcPct val="90000"/>
              </a:lnSpc>
            </a:pPr>
            <a:r>
              <a:rPr lang="en-US" sz="2000" dirty="0" err="1">
                <a:ea typeface="+mn-lt"/>
                <a:cs typeface="+mn-lt"/>
              </a:rPr>
              <a:t>Codul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caută</a:t>
            </a:r>
            <a:r>
              <a:rPr lang="en-US" sz="2000" dirty="0">
                <a:ea typeface="+mn-lt"/>
                <a:cs typeface="+mn-lt"/>
              </a:rPr>
              <a:t> automat pe </a:t>
            </a:r>
            <a:r>
              <a:rPr lang="en-US" sz="2000" dirty="0" err="1">
                <a:ea typeface="+mn-lt"/>
                <a:cs typeface="+mn-lt"/>
              </a:rPr>
              <a:t>tablă</a:t>
            </a:r>
            <a:r>
              <a:rPr lang="en-US" sz="2000" dirty="0">
                <a:ea typeface="+mn-lt"/>
                <a:cs typeface="+mn-lt"/>
              </a:rPr>
              <a:t>:</a:t>
            </a:r>
            <a:endParaRPr lang="en-US" sz="2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    </a:t>
            </a:r>
            <a:r>
              <a:rPr lang="en-US" sz="2000" dirty="0" err="1"/>
              <a:t>Linii</a:t>
            </a:r>
            <a:r>
              <a:rPr lang="en-US" sz="2000" dirty="0"/>
              <a:t> </a:t>
            </a:r>
            <a:r>
              <a:rPr lang="en-US" sz="2000" dirty="0" err="1"/>
              <a:t>clasice</a:t>
            </a: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>
                <a:ea typeface="+mn-lt"/>
                <a:cs typeface="+mn-lt"/>
              </a:rPr>
              <a:t>3, 4 </a:t>
            </a:r>
            <a:r>
              <a:rPr lang="en-US" sz="2000" dirty="0" err="1">
                <a:ea typeface="+mn-lt"/>
                <a:cs typeface="+mn-lt"/>
              </a:rPr>
              <a:t>sau</a:t>
            </a:r>
            <a:r>
              <a:rPr lang="en-US" sz="2000" dirty="0">
                <a:ea typeface="+mn-lt"/>
                <a:cs typeface="+mn-lt"/>
              </a:rPr>
              <a:t> 5 </a:t>
            </a:r>
            <a:r>
              <a:rPr lang="en-US" sz="2000" dirty="0" err="1">
                <a:ea typeface="+mn-lt"/>
                <a:cs typeface="+mn-lt"/>
              </a:rPr>
              <a:t>bomboane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identice</a:t>
            </a:r>
            <a:r>
              <a:rPr lang="en-US" sz="2000" dirty="0">
                <a:ea typeface="+mn-lt"/>
                <a:cs typeface="+mn-lt"/>
              </a:rPr>
              <a:t>:</a:t>
            </a: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 err="1">
                <a:ea typeface="+mn-lt"/>
                <a:cs typeface="+mn-lt"/>
              </a:rPr>
              <a:t>orizontal</a:t>
            </a: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>
                <a:ea typeface="+mn-lt"/>
                <a:cs typeface="+mn-lt"/>
              </a:rPr>
              <a:t>vertical</a:t>
            </a: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 err="1">
                <a:ea typeface="+mn-lt"/>
                <a:cs typeface="+mn-lt"/>
              </a:rPr>
              <a:t>Lungimea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determină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scorul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obținut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    </a:t>
            </a:r>
          </a:p>
        </p:txBody>
      </p:sp>
    </p:spTree>
    <p:extLst>
      <p:ext uri="{BB962C8B-B14F-4D97-AF65-F5344CB8AC3E}">
        <p14:creationId xmlns:p14="http://schemas.microsoft.com/office/powerpoint/2010/main" val="3173739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FAD7220-09B6-985B-392D-40867268AB2E}"/>
              </a:ext>
            </a:extLst>
          </p:cNvPr>
          <p:cNvSpPr txBox="1"/>
          <p:nvPr/>
        </p:nvSpPr>
        <p:spPr>
          <a:xfrm>
            <a:off x="560712" y="349380"/>
            <a:ext cx="4329829" cy="40093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 </a:t>
            </a:r>
            <a:r>
              <a:rPr lang="en-US" b="1" err="1"/>
              <a:t>Forme</a:t>
            </a:r>
            <a:r>
              <a:rPr lang="en-US" b="1" dirty="0"/>
              <a:t> </a:t>
            </a:r>
            <a:r>
              <a:rPr lang="en-US" b="1" err="1"/>
              <a:t>speciale</a:t>
            </a:r>
            <a:r>
              <a:rPr lang="en-US" b="1" dirty="0"/>
              <a:t> (L </a:t>
            </a:r>
            <a:r>
              <a:rPr lang="en-US" b="1" err="1"/>
              <a:t>și</a:t>
            </a:r>
            <a:r>
              <a:rPr lang="en-US" b="1" dirty="0"/>
              <a:t> T)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Se </a:t>
            </a:r>
            <a:r>
              <a:rPr lang="en-US" err="1"/>
              <a:t>verifică</a:t>
            </a:r>
            <a:r>
              <a:rPr lang="en-US" dirty="0"/>
              <a:t> </a:t>
            </a:r>
            <a:r>
              <a:rPr lang="en-US" err="1"/>
              <a:t>fiecare</a:t>
            </a:r>
            <a:r>
              <a:rPr lang="en-US" dirty="0"/>
              <a:t> </a:t>
            </a:r>
            <a:r>
              <a:rPr lang="en-US" err="1"/>
              <a:t>celulă</a:t>
            </a:r>
            <a:r>
              <a:rPr lang="en-US" dirty="0"/>
              <a:t> ca </a:t>
            </a:r>
            <a:r>
              <a:rPr lang="en-US" err="1"/>
              <a:t>potențialcentru</a:t>
            </a:r>
            <a:r>
              <a:rPr lang="en-US" dirty="0"/>
              <a:t>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Se </a:t>
            </a:r>
            <a:r>
              <a:rPr lang="en-US" err="1"/>
              <a:t>aplică</a:t>
            </a:r>
            <a:r>
              <a:rPr lang="en-US" dirty="0"/>
              <a:t> </a:t>
            </a:r>
            <a:r>
              <a:rPr lang="en-US" err="1"/>
              <a:t>șabloane</a:t>
            </a:r>
            <a:r>
              <a:rPr lang="en-US" dirty="0"/>
              <a:t> relative (pattern-</a:t>
            </a:r>
            <a:r>
              <a:rPr lang="en-US" err="1"/>
              <a:t>uri</a:t>
            </a:r>
            <a:r>
              <a:rPr lang="en-US" dirty="0"/>
              <a:t>)</a:t>
            </a:r>
            <a:r>
              <a:rPr lang="en-US" err="1"/>
              <a:t>pentru</a:t>
            </a:r>
            <a:r>
              <a:rPr lang="en-US" dirty="0"/>
              <a:t> L </a:t>
            </a:r>
            <a:r>
              <a:rPr lang="en-US" err="1"/>
              <a:t>și</a:t>
            </a:r>
            <a:r>
              <a:rPr lang="en-US" dirty="0"/>
              <a:t> T.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Forma </a:t>
            </a:r>
            <a:r>
              <a:rPr lang="en-US" err="1"/>
              <a:t>este</a:t>
            </a:r>
            <a:r>
              <a:rPr lang="en-US" dirty="0"/>
              <a:t> </a:t>
            </a:r>
            <a:r>
              <a:rPr lang="en-US" err="1"/>
              <a:t>validă</a:t>
            </a:r>
            <a:r>
              <a:rPr lang="en-US" dirty="0"/>
              <a:t> </a:t>
            </a:r>
            <a:r>
              <a:rPr lang="en-US" err="1"/>
              <a:t>doar</a:t>
            </a:r>
            <a:r>
              <a:rPr lang="en-US" dirty="0"/>
              <a:t> </a:t>
            </a:r>
            <a:r>
              <a:rPr lang="en-US" err="1"/>
              <a:t>dacă</a:t>
            </a:r>
            <a:r>
              <a:rPr lang="en-US" dirty="0"/>
              <a:t>: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 err="1"/>
              <a:t>toate</a:t>
            </a:r>
            <a:r>
              <a:rPr lang="en-US" dirty="0"/>
              <a:t> </a:t>
            </a:r>
            <a:r>
              <a:rPr lang="en-US" dirty="0" err="1"/>
              <a:t>pozițiile</a:t>
            </a:r>
            <a:r>
              <a:rPr lang="en-US" dirty="0"/>
              <a:t> sunt </a:t>
            </a:r>
            <a:r>
              <a:rPr lang="en-US" dirty="0" err="1"/>
              <a:t>în</a:t>
            </a:r>
            <a:r>
              <a:rPr lang="en-US" dirty="0"/>
              <a:t> </a:t>
            </a:r>
            <a:r>
              <a:rPr lang="en-US" dirty="0" err="1"/>
              <a:t>tablă</a:t>
            </a:r>
            <a:endParaRPr lang="en-US" dirty="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 err="1"/>
              <a:t>toate</a:t>
            </a:r>
            <a:r>
              <a:rPr lang="en-US" dirty="0"/>
              <a:t> au </a:t>
            </a:r>
            <a:r>
              <a:rPr lang="en-US" dirty="0" err="1"/>
              <a:t>aceeași</a:t>
            </a:r>
            <a:r>
              <a:rPr lang="en-US" dirty="0"/>
              <a:t> </a:t>
            </a:r>
            <a:r>
              <a:rPr lang="en-US" dirty="0" err="1"/>
              <a:t>valoare</a:t>
            </a:r>
            <a:endParaRPr lang="en-US" dirty="0"/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err="1">
                <a:ea typeface="+mn-lt"/>
                <a:cs typeface="+mn-lt"/>
              </a:rPr>
              <a:t>Toate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formele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detectate</a:t>
            </a:r>
            <a:r>
              <a:rPr lang="en-US" dirty="0">
                <a:ea typeface="+mn-lt"/>
                <a:cs typeface="+mn-lt"/>
              </a:rPr>
              <a:t> sunt </a:t>
            </a:r>
            <a:r>
              <a:rPr lang="en-US" err="1">
                <a:ea typeface="+mn-lt"/>
                <a:cs typeface="+mn-lt"/>
              </a:rPr>
              <a:t>colectate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într</a:t>
            </a:r>
            <a:r>
              <a:rPr lang="en-US" dirty="0">
                <a:ea typeface="+mn-lt"/>
                <a:cs typeface="+mn-lt"/>
              </a:rPr>
              <a:t>-o </a:t>
            </a:r>
            <a:r>
              <a:rPr lang="en-US" err="1">
                <a:ea typeface="+mn-lt"/>
                <a:cs typeface="+mn-lt"/>
              </a:rPr>
              <a:t>listă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dirty="0"/>
          </a:p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42C82C-4CAB-CD05-42E0-02251CEAB799}"/>
              </a:ext>
            </a:extLst>
          </p:cNvPr>
          <p:cNvSpPr txBox="1"/>
          <p:nvPr/>
        </p:nvSpPr>
        <p:spPr>
          <a:xfrm>
            <a:off x="4029205" y="3919603"/>
            <a:ext cx="609600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/>
              <a:t>Gravitație</a:t>
            </a:r>
            <a:r>
              <a:rPr lang="en-US" b="1" dirty="0"/>
              <a:t> </a:t>
            </a:r>
            <a:r>
              <a:rPr lang="en-US" b="1" dirty="0" err="1"/>
              <a:t>și</a:t>
            </a:r>
            <a:r>
              <a:rPr lang="en-US" b="1" dirty="0"/>
              <a:t> </a:t>
            </a:r>
            <a:r>
              <a:rPr lang="en-US" b="1" dirty="0" err="1"/>
              <a:t>reumplere</a:t>
            </a:r>
            <a:endParaRPr lang="en-US" b="1" dirty="0"/>
          </a:p>
          <a:p>
            <a:pPr marL="342900" indent="-342900">
              <a:buFont typeface="Arial"/>
              <a:buChar char="•"/>
            </a:pPr>
            <a:r>
              <a:rPr lang="en-US" dirty="0"/>
              <a:t> </a:t>
            </a:r>
            <a:r>
              <a:rPr lang="en-US" dirty="0" err="1"/>
              <a:t>Gravitație</a:t>
            </a:r>
            <a:endParaRPr lang="en-US" dirty="0"/>
          </a:p>
          <a:p>
            <a:r>
              <a:rPr lang="en-US" err="1"/>
              <a:t>Bomboanele</a:t>
            </a:r>
            <a:r>
              <a:rPr lang="en-US" dirty="0"/>
              <a:t> „cad” </a:t>
            </a:r>
            <a:r>
              <a:rPr lang="en-US" err="1"/>
              <a:t>în</a:t>
            </a:r>
            <a:r>
              <a:rPr lang="en-US" dirty="0"/>
              <a:t> </a:t>
            </a:r>
            <a:r>
              <a:rPr lang="en-US" err="1"/>
              <a:t>jos</a:t>
            </a:r>
            <a:r>
              <a:rPr lang="en-US" dirty="0"/>
              <a:t> pe </a:t>
            </a:r>
            <a:r>
              <a:rPr lang="en-US" err="1"/>
              <a:t>fiecare</a:t>
            </a:r>
            <a:r>
              <a:rPr lang="en-US" dirty="0"/>
              <a:t> </a:t>
            </a:r>
            <a:r>
              <a:rPr lang="en-US" err="1"/>
              <a:t>coloană</a:t>
            </a:r>
            <a:r>
              <a:rPr lang="en-US" dirty="0"/>
              <a:t>.</a:t>
            </a:r>
          </a:p>
          <a:p>
            <a:r>
              <a:rPr lang="en-US" err="1"/>
              <a:t>Spațiile</a:t>
            </a:r>
            <a:r>
              <a:rPr lang="en-US" dirty="0"/>
              <a:t> </a:t>
            </a:r>
            <a:r>
              <a:rPr lang="en-US" err="1"/>
              <a:t>libere</a:t>
            </a:r>
            <a:r>
              <a:rPr lang="en-US" dirty="0"/>
              <a:t> </a:t>
            </a:r>
            <a:r>
              <a:rPr lang="en-US" err="1"/>
              <a:t>rămân</a:t>
            </a:r>
            <a:r>
              <a:rPr lang="en-US" dirty="0"/>
              <a:t> sus.</a:t>
            </a:r>
          </a:p>
          <a:p>
            <a:pPr marL="342900" indent="-342900">
              <a:buFont typeface="Arial"/>
              <a:buChar char="•"/>
            </a:pPr>
            <a:r>
              <a:rPr lang="en-US" dirty="0" err="1"/>
              <a:t>Reumplere</a:t>
            </a:r>
            <a:endParaRPr lang="en-US" dirty="0"/>
          </a:p>
          <a:p>
            <a:r>
              <a:rPr lang="en-US" err="1"/>
              <a:t>Spațiile</a:t>
            </a:r>
            <a:r>
              <a:rPr lang="en-US" dirty="0"/>
              <a:t> </a:t>
            </a:r>
            <a:r>
              <a:rPr lang="en-US" err="1"/>
              <a:t>goale</a:t>
            </a:r>
            <a:r>
              <a:rPr lang="en-US" dirty="0"/>
              <a:t> sunt </a:t>
            </a:r>
            <a:r>
              <a:rPr lang="en-US" err="1"/>
              <a:t>completate</a:t>
            </a:r>
            <a:r>
              <a:rPr lang="en-US" dirty="0"/>
              <a:t> cu </a:t>
            </a:r>
            <a:r>
              <a:rPr lang="en-US" err="1"/>
              <a:t>bomboane</a:t>
            </a:r>
            <a:r>
              <a:rPr lang="en-US" dirty="0"/>
              <a:t> </a:t>
            </a:r>
            <a:r>
              <a:rPr lang="en-US" err="1"/>
              <a:t>noi</a:t>
            </a:r>
            <a:r>
              <a:rPr lang="en-US" dirty="0"/>
              <a:t> </a:t>
            </a:r>
            <a:r>
              <a:rPr lang="en-US" err="1"/>
              <a:t>aleatorii</a:t>
            </a:r>
            <a:r>
              <a:rPr lang="en-US" dirty="0"/>
              <a:t>.</a:t>
            </a:r>
          </a:p>
          <a:p>
            <a:r>
              <a:rPr lang="en-US" dirty="0">
                <a:ea typeface="+mn-lt"/>
                <a:cs typeface="+mn-lt"/>
              </a:rPr>
              <a:t>   </a:t>
            </a:r>
            <a:r>
              <a:rPr lang="en-US" dirty="0" err="1">
                <a:ea typeface="+mn-lt"/>
                <a:cs typeface="+mn-lt"/>
              </a:rPr>
              <a:t>Tabla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revine</a:t>
            </a:r>
            <a:r>
              <a:rPr lang="en-US" dirty="0">
                <a:ea typeface="+mn-lt"/>
                <a:cs typeface="+mn-lt"/>
              </a:rPr>
              <a:t> la </a:t>
            </a:r>
            <a:r>
              <a:rPr lang="en-US" dirty="0" err="1">
                <a:ea typeface="+mn-lt"/>
                <a:cs typeface="+mn-lt"/>
              </a:rPr>
              <a:t>dimensiune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completă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D32DAD-842E-4D94-5B75-4696021AAFE8}"/>
              </a:ext>
            </a:extLst>
          </p:cNvPr>
          <p:cNvSpPr txBox="1"/>
          <p:nvPr/>
        </p:nvSpPr>
        <p:spPr>
          <a:xfrm>
            <a:off x="6095213" y="353081"/>
            <a:ext cx="7137746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 </a:t>
            </a:r>
            <a:r>
              <a:rPr lang="en-US" b="1" dirty="0" err="1"/>
              <a:t>Eliminarea</a:t>
            </a:r>
            <a:r>
              <a:rPr lang="en-US" b="1" dirty="0"/>
              <a:t> </a:t>
            </a:r>
            <a:r>
              <a:rPr lang="en-US" b="1" dirty="0" err="1"/>
              <a:t>formelor</a:t>
            </a:r>
            <a:r>
              <a:rPr lang="en-US" b="1" dirty="0"/>
              <a:t> </a:t>
            </a:r>
            <a:r>
              <a:rPr lang="en-US" b="1" dirty="0" err="1"/>
              <a:t>și</a:t>
            </a:r>
            <a:r>
              <a:rPr lang="en-US" b="1" dirty="0"/>
              <a:t> </a:t>
            </a:r>
            <a:r>
              <a:rPr lang="en-US" b="1" dirty="0" err="1"/>
              <a:t>scorarea</a:t>
            </a:r>
            <a:endParaRPr lang="en-US" b="1" dirty="0"/>
          </a:p>
          <a:p>
            <a:r>
              <a:rPr lang="en-US" dirty="0" err="1"/>
              <a:t>Formele</a:t>
            </a:r>
            <a:r>
              <a:rPr lang="en-US" dirty="0"/>
              <a:t> sunt:</a:t>
            </a:r>
          </a:p>
          <a:p>
            <a:pPr marL="342900" indent="-342900">
              <a:buFont typeface="Arial,Sans-Serif"/>
              <a:buChar char="•"/>
            </a:pPr>
            <a:r>
              <a:rPr lang="en-US" dirty="0" err="1"/>
              <a:t>sortate</a:t>
            </a:r>
            <a:r>
              <a:rPr lang="en-US" dirty="0"/>
              <a:t> </a:t>
            </a:r>
            <a:r>
              <a:rPr lang="en-US" dirty="0" err="1"/>
              <a:t>descrescător</a:t>
            </a:r>
            <a:r>
              <a:rPr lang="en-US" dirty="0"/>
              <a:t> </a:t>
            </a:r>
            <a:r>
              <a:rPr lang="en-US" dirty="0" err="1"/>
              <a:t>după</a:t>
            </a:r>
            <a:r>
              <a:rPr lang="en-US" dirty="0"/>
              <a:t> </a:t>
            </a:r>
            <a:r>
              <a:rPr lang="en-US" dirty="0" err="1"/>
              <a:t>scor</a:t>
            </a:r>
            <a:endParaRPr lang="en-US" dirty="0"/>
          </a:p>
          <a:p>
            <a:pPr marL="342900" indent="-342900">
              <a:buFont typeface="Arial,Sans-Serif"/>
              <a:buChar char="•"/>
            </a:pPr>
            <a:r>
              <a:rPr lang="en-US" dirty="0"/>
              <a:t>Se </a:t>
            </a:r>
            <a:r>
              <a:rPr lang="en-US" dirty="0" err="1"/>
              <a:t>aplică</a:t>
            </a:r>
            <a:r>
              <a:rPr lang="en-US" dirty="0"/>
              <a:t> </a:t>
            </a:r>
            <a:r>
              <a:rPr lang="en-US" dirty="0" err="1"/>
              <a:t>regula</a:t>
            </a:r>
            <a:r>
              <a:rPr lang="en-US" dirty="0"/>
              <a:t> anti-</a:t>
            </a:r>
            <a:r>
              <a:rPr lang="en-US" dirty="0" err="1"/>
              <a:t>dublare</a:t>
            </a:r>
            <a:r>
              <a:rPr lang="en-US" dirty="0"/>
              <a:t>:</a:t>
            </a:r>
          </a:p>
          <a:p>
            <a:r>
              <a:rPr lang="en-US" dirty="0"/>
              <a:t>o </a:t>
            </a:r>
            <a:r>
              <a:rPr lang="en-US" dirty="0" err="1"/>
              <a:t>celulă</a:t>
            </a:r>
            <a:r>
              <a:rPr lang="en-US" dirty="0"/>
              <a:t> </a:t>
            </a:r>
            <a:r>
              <a:rPr lang="en-US" dirty="0" err="1"/>
              <a:t>poate</a:t>
            </a:r>
            <a:r>
              <a:rPr lang="en-US" dirty="0"/>
              <a:t> fi </a:t>
            </a:r>
            <a:r>
              <a:rPr lang="en-US" dirty="0" err="1"/>
              <a:t>folosită</a:t>
            </a:r>
            <a:r>
              <a:rPr lang="en-US" dirty="0"/>
              <a:t> </a:t>
            </a:r>
            <a:r>
              <a:rPr lang="en-US" dirty="0" err="1"/>
              <a:t>într</a:t>
            </a:r>
            <a:r>
              <a:rPr lang="en-US" dirty="0"/>
              <a:t>-o </a:t>
            </a:r>
            <a:r>
              <a:rPr lang="en-US" dirty="0" err="1"/>
              <a:t>singurăformă</a:t>
            </a:r>
            <a:endParaRPr lang="en-US" dirty="0"/>
          </a:p>
          <a:p>
            <a:pPr marL="342900" indent="-342900">
              <a:buFont typeface="Arial,Sans-Serif"/>
              <a:buChar char="•"/>
            </a:pPr>
            <a:r>
              <a:rPr lang="en-US" dirty="0" err="1"/>
              <a:t>Celulele</a:t>
            </a:r>
            <a:r>
              <a:rPr lang="en-US" dirty="0"/>
              <a:t> </a:t>
            </a:r>
            <a:r>
              <a:rPr lang="en-US" dirty="0" err="1"/>
              <a:t>valide</a:t>
            </a:r>
            <a:r>
              <a:rPr lang="en-US" dirty="0"/>
              <a:t>:</a:t>
            </a:r>
          </a:p>
          <a:p>
            <a:pPr marL="342900" indent="-342900">
              <a:buFont typeface="Arial,Sans-Serif"/>
              <a:buChar char="•"/>
            </a:pPr>
            <a:r>
              <a:rPr lang="en-US" dirty="0"/>
              <a:t>sunt eliminate (</a:t>
            </a:r>
            <a:r>
              <a:rPr lang="en-US" dirty="0" err="1"/>
              <a:t>setate</a:t>
            </a:r>
            <a:r>
              <a:rPr lang="en-US" dirty="0"/>
              <a:t> la 0)</a:t>
            </a:r>
          </a:p>
          <a:p>
            <a:pPr marL="342900" indent="-342900">
              <a:buFont typeface="Arial,Sans-Serif"/>
              <a:buChar char="•"/>
            </a:pPr>
            <a:r>
              <a:rPr lang="en-US" dirty="0" err="1"/>
              <a:t>punctele</a:t>
            </a:r>
            <a:r>
              <a:rPr lang="en-US" dirty="0"/>
              <a:t> sunt </a:t>
            </a:r>
            <a:r>
              <a:rPr lang="en-US" dirty="0" err="1"/>
              <a:t>adunate</a:t>
            </a:r>
            <a:endParaRPr lang="en-US" dirty="0"/>
          </a:p>
          <a:p>
            <a:r>
              <a:rPr lang="en-US" dirty="0" err="1"/>
              <a:t>Rezultatul</a:t>
            </a:r>
            <a:r>
              <a:rPr lang="en-US" dirty="0"/>
              <a:t>: </a:t>
            </a:r>
            <a:r>
              <a:rPr lang="en-US" dirty="0" err="1"/>
              <a:t>tablă</a:t>
            </a:r>
            <a:r>
              <a:rPr lang="en-US" dirty="0"/>
              <a:t> cu </a:t>
            </a:r>
            <a:r>
              <a:rPr lang="en-US" dirty="0" err="1"/>
              <a:t>spații</a:t>
            </a:r>
            <a:r>
              <a:rPr lang="en-US" dirty="0"/>
              <a:t> </a:t>
            </a:r>
            <a:r>
              <a:rPr lang="en-US" dirty="0" err="1"/>
              <a:t>goale</a:t>
            </a:r>
            <a:r>
              <a:rPr lang="en-US" dirty="0"/>
              <a:t> + </a:t>
            </a:r>
            <a:r>
              <a:rPr lang="en-US" dirty="0" err="1"/>
              <a:t>scor</a:t>
            </a:r>
            <a:r>
              <a:rPr lang="en-US" dirty="0"/>
              <a:t> </a:t>
            </a:r>
            <a:r>
              <a:rPr lang="en-US" dirty="0" err="1"/>
              <a:t>acumulat</a:t>
            </a:r>
            <a:r>
              <a:rPr lang="en-US" dirty="0"/>
              <a:t>.</a:t>
            </a:r>
          </a:p>
          <a:p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23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B8CB9B-CE24-650B-C988-3B419B4251FC}"/>
              </a:ext>
            </a:extLst>
          </p:cNvPr>
          <p:cNvSpPr txBox="1"/>
          <p:nvPr/>
        </p:nvSpPr>
        <p:spPr>
          <a:xfrm>
            <a:off x="532710" y="449702"/>
            <a:ext cx="5279719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Cascade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/>
              <a:t>După</a:t>
            </a:r>
            <a:r>
              <a:rPr lang="en-US" dirty="0"/>
              <a:t> </a:t>
            </a:r>
            <a:r>
              <a:rPr lang="en-US" dirty="0" err="1"/>
              <a:t>reumplere</a:t>
            </a:r>
            <a:r>
              <a:rPr lang="en-US" dirty="0"/>
              <a:t>, pot </a:t>
            </a:r>
            <a:r>
              <a:rPr lang="en-US" dirty="0" err="1"/>
              <a:t>apărea</a:t>
            </a:r>
            <a:r>
              <a:rPr lang="en-US" dirty="0"/>
              <a:t> </a:t>
            </a:r>
            <a:r>
              <a:rPr lang="en-US" dirty="0" err="1"/>
              <a:t>noi</a:t>
            </a:r>
            <a:r>
              <a:rPr lang="en-US" dirty="0"/>
              <a:t> </a:t>
            </a:r>
            <a:r>
              <a:rPr lang="en-US" dirty="0" err="1"/>
              <a:t>forme</a:t>
            </a:r>
            <a:r>
              <a:rPr lang="en-US" dirty="0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/>
              <a:t>Codul</a:t>
            </a:r>
            <a:r>
              <a:rPr lang="en-US" dirty="0"/>
              <a:t> </a:t>
            </a:r>
            <a:r>
              <a:rPr lang="en-US" dirty="0" err="1"/>
              <a:t>repetă</a:t>
            </a:r>
            <a:r>
              <a:rPr lang="en-US" dirty="0"/>
              <a:t>:</a:t>
            </a:r>
          </a:p>
          <a:p>
            <a:r>
              <a:rPr lang="en-US" dirty="0" err="1"/>
              <a:t>detectare</a:t>
            </a:r>
            <a:r>
              <a:rPr lang="en-US" dirty="0"/>
              <a:t> → </a:t>
            </a:r>
            <a:r>
              <a:rPr lang="en-US" dirty="0" err="1"/>
              <a:t>eliminare</a:t>
            </a:r>
            <a:r>
              <a:rPr lang="en-US" dirty="0"/>
              <a:t> → </a:t>
            </a:r>
            <a:r>
              <a:rPr lang="en-US" dirty="0" err="1"/>
              <a:t>gravitație</a:t>
            </a:r>
            <a:r>
              <a:rPr lang="en-US" dirty="0"/>
              <a:t> → </a:t>
            </a:r>
            <a:r>
              <a:rPr lang="en-US" dirty="0" err="1"/>
              <a:t>reumplere</a:t>
            </a:r>
            <a:r>
              <a:rPr lang="en-US" dirty="0"/>
              <a:t>
</a:t>
            </a:r>
          </a:p>
          <a:p>
            <a:pPr marL="285750" indent="-285750">
              <a:buFont typeface="Arial"/>
              <a:buChar char="•"/>
            </a:pPr>
            <a:r>
              <a:rPr lang="en-US" err="1"/>
              <a:t>Procesul</a:t>
            </a:r>
            <a:r>
              <a:rPr lang="en-US" dirty="0"/>
              <a:t> </a:t>
            </a:r>
            <a:r>
              <a:rPr lang="en-US" err="1"/>
              <a:t>continuă</a:t>
            </a:r>
            <a:r>
              <a:rPr lang="en-US" dirty="0"/>
              <a:t> </a:t>
            </a:r>
            <a:r>
              <a:rPr lang="en-US" err="1"/>
              <a:t>până</a:t>
            </a:r>
            <a:r>
              <a:rPr lang="en-US" dirty="0"/>
              <a:t> </a:t>
            </a:r>
            <a:r>
              <a:rPr lang="en-US" err="1"/>
              <a:t>când</a:t>
            </a:r>
            <a:r>
              <a:rPr lang="en-US" dirty="0"/>
              <a:t> nu </a:t>
            </a:r>
            <a:r>
              <a:rPr lang="en-US" err="1"/>
              <a:t>mai</a:t>
            </a:r>
            <a:r>
              <a:rPr lang="en-US" dirty="0"/>
              <a:t> </a:t>
            </a:r>
            <a:r>
              <a:rPr lang="en-US" err="1"/>
              <a:t>există</a:t>
            </a:r>
            <a:r>
              <a:rPr lang="en-US" dirty="0"/>
              <a:t> </a:t>
            </a:r>
            <a:r>
              <a:rPr lang="en-US" err="1"/>
              <a:t>forme</a:t>
            </a:r>
            <a:r>
              <a:rPr lang="en-US" dirty="0"/>
              <a:t> </a:t>
            </a:r>
            <a:r>
              <a:rPr lang="en-US" err="1"/>
              <a:t>valide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repetare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cascadă</a:t>
            </a:r>
            <a:r>
              <a:rPr lang="en-US" dirty="0"/>
              <a:t>.</a:t>
            </a:r>
          </a:p>
          <a:p>
            <a:pPr algn="l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F68A29-2A3D-9500-F0A6-4501DE3C35D5}"/>
              </a:ext>
            </a:extLst>
          </p:cNvPr>
          <p:cNvSpPr txBox="1"/>
          <p:nvPr/>
        </p:nvSpPr>
        <p:spPr>
          <a:xfrm>
            <a:off x="532356" y="3429000"/>
            <a:ext cx="4864275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/>
              <a:t>Găsirea</a:t>
            </a:r>
            <a:r>
              <a:rPr lang="en-US" b="1" dirty="0"/>
              <a:t> </a:t>
            </a:r>
            <a:r>
              <a:rPr lang="en-US" b="1" dirty="0" err="1"/>
              <a:t>mutărilor</a:t>
            </a:r>
            <a:r>
              <a:rPr lang="en-US" b="1" dirty="0"/>
              <a:t> </a:t>
            </a:r>
            <a:r>
              <a:rPr lang="en-US" b="1" dirty="0" err="1"/>
              <a:t>valide</a:t>
            </a:r>
          </a:p>
          <a:p>
            <a:r>
              <a:rPr lang="en-US" err="1"/>
              <a:t>Codul</a:t>
            </a:r>
            <a:r>
              <a:rPr lang="en-US" dirty="0"/>
              <a:t> </a:t>
            </a:r>
            <a:r>
              <a:rPr lang="en-US" err="1"/>
              <a:t>caută</a:t>
            </a:r>
            <a:r>
              <a:rPr lang="en-US"/>
              <a:t> swap-</a:t>
            </a:r>
            <a:r>
              <a:rPr lang="en-US" err="1"/>
              <a:t>uri</a:t>
            </a:r>
            <a:r>
              <a:rPr lang="en-US" dirty="0"/>
              <a:t> </a:t>
            </a:r>
            <a:r>
              <a:rPr lang="en-US" err="1"/>
              <a:t>posibile</a:t>
            </a:r>
            <a:r>
              <a:rPr lang="en-US" dirty="0"/>
              <a:t> </a:t>
            </a:r>
            <a:r>
              <a:rPr lang="en-US" err="1"/>
              <a:t>între</a:t>
            </a:r>
            <a:r>
              <a:rPr lang="en-US" dirty="0"/>
              <a:t> </a:t>
            </a:r>
            <a:r>
              <a:rPr lang="en-US" err="1"/>
              <a:t>celule</a:t>
            </a:r>
            <a:r>
              <a:rPr lang="en-US" dirty="0"/>
              <a:t> </a:t>
            </a:r>
            <a:r>
              <a:rPr lang="en-US" err="1"/>
              <a:t>adiacente</a:t>
            </a:r>
            <a:r>
              <a:rPr lang="en-US"/>
              <a:t>:</a:t>
            </a:r>
          </a:p>
          <a:p>
            <a:pPr marL="228600" lvl="1" indent="-228600">
              <a:buFont typeface=""/>
              <a:buChar char="•"/>
            </a:pPr>
            <a:r>
              <a:rPr lang="en-US" dirty="0" err="1"/>
              <a:t>dreapta</a:t>
            </a:r>
          </a:p>
          <a:p>
            <a:pPr marL="228600" lvl="1" indent="-228600">
              <a:buFont typeface=""/>
              <a:buChar char="•"/>
            </a:pPr>
            <a:r>
              <a:rPr lang="en-US" dirty="0" err="1"/>
              <a:t>jos</a:t>
            </a:r>
          </a:p>
          <a:p>
            <a:r>
              <a:rPr lang="en-US" err="1"/>
              <a:t>După</a:t>
            </a:r>
            <a:r>
              <a:rPr lang="en-US"/>
              <a:t> </a:t>
            </a:r>
            <a:r>
              <a:rPr lang="en-US" err="1"/>
              <a:t>fiecare</a:t>
            </a:r>
            <a:r>
              <a:rPr lang="en-US"/>
              <a:t> swap:</a:t>
            </a:r>
          </a:p>
          <a:p>
            <a:pPr marL="228600" lvl="1" indent="-228600">
              <a:buFont typeface=""/>
              <a:buChar char="•"/>
            </a:pPr>
            <a:r>
              <a:rPr lang="en-US" dirty="0" err="1"/>
              <a:t>verifică</a:t>
            </a:r>
            <a:r>
              <a:rPr lang="en-US" dirty="0"/>
              <a:t>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apare</a:t>
            </a:r>
            <a:r>
              <a:rPr lang="en-US" dirty="0"/>
              <a:t> cel </a:t>
            </a:r>
            <a:r>
              <a:rPr lang="en-US" dirty="0" err="1"/>
              <a:t>puțin</a:t>
            </a:r>
            <a:r>
              <a:rPr lang="en-US" dirty="0"/>
              <a:t> o </a:t>
            </a:r>
            <a:r>
              <a:rPr lang="en-US" dirty="0" err="1"/>
              <a:t>linie</a:t>
            </a:r>
            <a:r>
              <a:rPr lang="en-US" dirty="0"/>
              <a:t> de 3</a:t>
            </a:r>
          </a:p>
          <a:p>
            <a:r>
              <a:rPr lang="en-US" dirty="0"/>
              <a:t> Prima </a:t>
            </a:r>
            <a:r>
              <a:rPr lang="en-US" dirty="0" err="1"/>
              <a:t>mutare</a:t>
            </a:r>
            <a:r>
              <a:rPr lang="en-US" dirty="0"/>
              <a:t> </a:t>
            </a:r>
            <a:r>
              <a:rPr lang="en-US" dirty="0" err="1"/>
              <a:t>validă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aleasă</a:t>
            </a:r>
            <a:r>
              <a:rPr lang="en-US" dirty="0"/>
              <a:t> automat.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EB3D4F-4452-FB4E-8ABC-E2DD2E03BDEE}"/>
              </a:ext>
            </a:extLst>
          </p:cNvPr>
          <p:cNvSpPr txBox="1"/>
          <p:nvPr/>
        </p:nvSpPr>
        <p:spPr>
          <a:xfrm>
            <a:off x="6743178" y="454068"/>
            <a:ext cx="4697261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Bucla principală de joc</a:t>
            </a:r>
          </a:p>
          <a:p>
            <a:r>
              <a:rPr lang="en-US"/>
              <a:t>Pentru fiecare joc: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Se execută mutări succesive până când:</a:t>
            </a:r>
          </a:p>
          <a:p>
            <a:pPr marL="228600" lvl="1" indent="-228600">
              <a:buFont typeface=""/>
              <a:buChar char="•"/>
            </a:pPr>
            <a:r>
              <a:rPr lang="en-US"/>
              <a:t>se atinge ținta de puncte (ex. 10.000)</a:t>
            </a:r>
          </a:p>
          <a:p>
            <a:pPr marL="228600" lvl="1" indent="-228600">
              <a:buFont typeface=""/>
              <a:buChar char="•"/>
            </a:pPr>
            <a:r>
              <a:rPr lang="en-US"/>
              <a:t>sau nu mai există mutări valide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Se monitorizează:</a:t>
            </a:r>
          </a:p>
          <a:p>
            <a:pPr marL="228600" lvl="1" indent="-228600">
              <a:buFont typeface=""/>
              <a:buChar char="•"/>
            </a:pPr>
            <a:r>
              <a:rPr lang="en-US"/>
              <a:t>puncte totale</a:t>
            </a:r>
          </a:p>
          <a:p>
            <a:pPr marL="228600" lvl="1" indent="-228600">
              <a:buFont typeface=""/>
              <a:buChar char="•"/>
            </a:pPr>
            <a:r>
              <a:rPr lang="en-US"/>
              <a:t>număr de mutări</a:t>
            </a:r>
          </a:p>
          <a:p>
            <a:pPr marL="228600" lvl="1" indent="-228600">
              <a:buFont typeface=""/>
              <a:buChar char="•"/>
            </a:pPr>
            <a:r>
              <a:rPr lang="en-US"/>
              <a:t>număr de cascade</a:t>
            </a:r>
          </a:p>
          <a:p>
            <a:pPr marL="228600" lvl="1" indent="-228600">
              <a:buFont typeface=""/>
              <a:buChar char="•"/>
            </a:pPr>
            <a:r>
              <a:rPr lang="en-US"/>
              <a:t>mutări până la atingerea țintei</a:t>
            </a:r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565823-E58F-F0C5-DF84-AE1F460729DF}"/>
              </a:ext>
            </a:extLst>
          </p:cNvPr>
          <p:cNvSpPr txBox="1"/>
          <p:nvPr/>
        </p:nvSpPr>
        <p:spPr>
          <a:xfrm>
            <a:off x="6749865" y="3711666"/>
            <a:ext cx="4695171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err="1"/>
              <a:t>Rularea</a:t>
            </a:r>
            <a:r>
              <a:rPr lang="en-US" b="1" dirty="0"/>
              <a:t> </a:t>
            </a:r>
            <a:r>
              <a:rPr lang="en-US" b="1" err="1"/>
              <a:t>mai</a:t>
            </a:r>
            <a:r>
              <a:rPr lang="en-US" b="1" dirty="0"/>
              <a:t> </a:t>
            </a:r>
            <a:r>
              <a:rPr lang="en-US" b="1" err="1"/>
              <a:t>multor</a:t>
            </a:r>
            <a:r>
              <a:rPr lang="en-US" b="1" dirty="0"/>
              <a:t> </a:t>
            </a:r>
            <a:r>
              <a:rPr lang="en-US" b="1" err="1"/>
              <a:t>jocuri</a:t>
            </a:r>
            <a:endParaRPr lang="en-US" b="1"/>
          </a:p>
          <a:p>
            <a:r>
              <a:rPr lang="en-US" err="1"/>
              <a:t>Jocul</a:t>
            </a:r>
            <a:r>
              <a:rPr lang="en-US" dirty="0"/>
              <a:t> </a:t>
            </a:r>
            <a:r>
              <a:rPr lang="en-US" err="1"/>
              <a:t>este</a:t>
            </a:r>
            <a:r>
              <a:rPr lang="en-US" dirty="0"/>
              <a:t> </a:t>
            </a:r>
            <a:r>
              <a:rPr lang="en-US" err="1"/>
              <a:t>simulat</a:t>
            </a:r>
            <a:r>
              <a:rPr lang="en-US"/>
              <a:t> de 100 de </a:t>
            </a:r>
            <a:r>
              <a:rPr lang="en-US" err="1"/>
              <a:t>ori</a:t>
            </a:r>
            <a:r>
              <a:rPr lang="en-US"/>
              <a:t>.</a:t>
            </a:r>
          </a:p>
          <a:p>
            <a:r>
              <a:rPr lang="en-US" err="1"/>
              <a:t>Rezultatele</a:t>
            </a:r>
            <a:r>
              <a:rPr lang="en-US" dirty="0"/>
              <a:t> sunt:</a:t>
            </a:r>
          </a:p>
          <a:p>
            <a:pPr marL="285750" indent="-285750">
              <a:buFont typeface="Arial"/>
              <a:buChar char="•"/>
            </a:pPr>
            <a:r>
              <a:rPr lang="en-US" err="1"/>
              <a:t>salvate</a:t>
            </a:r>
            <a:r>
              <a:rPr lang="en-US" dirty="0"/>
              <a:t> </a:t>
            </a:r>
            <a:r>
              <a:rPr lang="en-US" err="1"/>
              <a:t>în</a:t>
            </a:r>
            <a:r>
              <a:rPr lang="en-US" dirty="0"/>
              <a:t> </a:t>
            </a:r>
            <a:r>
              <a:rPr lang="en-US" err="1"/>
              <a:t>fișier</a:t>
            </a:r>
            <a:r>
              <a:rPr lang="en-US" dirty="0"/>
              <a:t> CSV</a:t>
            </a:r>
          </a:p>
          <a:p>
            <a:pPr marL="285750" indent="-285750">
              <a:buFont typeface="Arial"/>
              <a:buChar char="•"/>
            </a:pPr>
            <a:r>
              <a:rPr lang="en-US" err="1"/>
              <a:t>analizate</a:t>
            </a:r>
            <a:r>
              <a:rPr lang="en-US" dirty="0"/>
              <a:t> statistic (</a:t>
            </a:r>
            <a:r>
              <a:rPr lang="en-US" err="1"/>
              <a:t>medii</a:t>
            </a:r>
            <a:r>
              <a:rPr lang="en-US" dirty="0"/>
              <a:t>, </a:t>
            </a:r>
            <a:r>
              <a:rPr lang="en-US" err="1"/>
              <a:t>distribuții</a:t>
            </a:r>
            <a:r>
              <a:rPr lang="en-US" dirty="0"/>
              <a:t>)</a:t>
            </a:r>
          </a:p>
          <a:p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evaluarea</a:t>
            </a:r>
            <a:r>
              <a:rPr lang="en-US" dirty="0"/>
              <a:t> </a:t>
            </a:r>
            <a:r>
              <a:rPr lang="en-US" dirty="0" err="1"/>
              <a:t>performanței</a:t>
            </a:r>
            <a:r>
              <a:rPr lang="en-US" dirty="0"/>
              <a:t> </a:t>
            </a:r>
            <a:r>
              <a:rPr lang="en-US" dirty="0" err="1"/>
              <a:t>strategiei</a:t>
            </a:r>
            <a:r>
              <a:rPr lang="en-US" dirty="0"/>
              <a:t> automate.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992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6E611-3CEA-6C2F-1563-E7565D57D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Strategia</a:t>
            </a:r>
            <a:r>
              <a:rPr lang="en-US" dirty="0"/>
              <a:t> de </a:t>
            </a:r>
            <a:r>
              <a:rPr lang="en-US" dirty="0" err="1"/>
              <a:t>joc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D7EDB-865E-F08B-A24C-A7019AA19C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9" y="2436271"/>
            <a:ext cx="10877183" cy="369417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 b="1" dirty="0" err="1"/>
              <a:t>Tipul</a:t>
            </a:r>
            <a:r>
              <a:rPr lang="en-US" sz="1800" b="1" dirty="0"/>
              <a:t> </a:t>
            </a:r>
            <a:r>
              <a:rPr lang="en-US" sz="1800" b="1" dirty="0" err="1"/>
              <a:t>strategiei</a:t>
            </a:r>
            <a:r>
              <a:rPr lang="en-US" sz="1800" b="1" dirty="0"/>
              <a:t>:</a:t>
            </a:r>
          </a:p>
          <a:p>
            <a:pPr marL="0" indent="0">
              <a:buNone/>
            </a:pPr>
            <a:r>
              <a:rPr lang="en-US" sz="1800" b="1" dirty="0">
                <a:ea typeface="+mn-lt"/>
                <a:cs typeface="+mn-lt"/>
              </a:rPr>
              <a:t>Greedy </a:t>
            </a:r>
            <a:endParaRPr lang="en-US" sz="1800" dirty="0">
              <a:ea typeface="+mn-lt"/>
              <a:cs typeface="+mn-lt"/>
            </a:endParaRPr>
          </a:p>
          <a:p>
            <a:r>
              <a:rPr lang="en-US" sz="1800" err="1">
                <a:ea typeface="+mn-lt"/>
                <a:cs typeface="+mn-lt"/>
              </a:rPr>
              <a:t>Alege</a:t>
            </a:r>
            <a:r>
              <a:rPr lang="en-US" sz="1800" dirty="0">
                <a:ea typeface="+mn-lt"/>
                <a:cs typeface="+mn-lt"/>
              </a:rPr>
              <a:t> prima </a:t>
            </a:r>
            <a:r>
              <a:rPr lang="en-US" sz="1800" err="1">
                <a:ea typeface="+mn-lt"/>
                <a:cs typeface="+mn-lt"/>
              </a:rPr>
              <a:t>mutare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validă</a:t>
            </a:r>
            <a:r>
              <a:rPr lang="en-US" sz="1800" dirty="0">
                <a:ea typeface="+mn-lt"/>
                <a:cs typeface="+mn-lt"/>
              </a:rPr>
              <a:t> care produce o </a:t>
            </a:r>
            <a:r>
              <a:rPr lang="en-US" sz="1800" err="1">
                <a:ea typeface="+mn-lt"/>
                <a:cs typeface="+mn-lt"/>
              </a:rPr>
              <a:t>linie</a:t>
            </a:r>
            <a:r>
              <a:rPr lang="en-US" sz="1800" dirty="0">
                <a:ea typeface="+mn-lt"/>
                <a:cs typeface="+mn-lt"/>
              </a:rPr>
              <a:t> de minim 3 </a:t>
            </a:r>
            <a:r>
              <a:rPr lang="en-US" sz="1800" err="1">
                <a:ea typeface="+mn-lt"/>
                <a:cs typeface="+mn-lt"/>
              </a:rPr>
              <a:t>bomboane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 dirty="0"/>
          </a:p>
          <a:p>
            <a:pPr lvl="1"/>
            <a:r>
              <a:rPr lang="en-US" sz="1800" dirty="0">
                <a:ea typeface="+mn-lt"/>
                <a:cs typeface="+mn-lt"/>
              </a:rPr>
              <a:t>Nu </a:t>
            </a:r>
            <a:r>
              <a:rPr lang="en-US" sz="1800" dirty="0" err="1">
                <a:ea typeface="+mn-lt"/>
                <a:cs typeface="+mn-lt"/>
              </a:rPr>
              <a:t>compară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toate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mutările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posibile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pentru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scor</a:t>
            </a:r>
            <a:r>
              <a:rPr lang="en-US" sz="1800" dirty="0">
                <a:ea typeface="+mn-lt"/>
                <a:cs typeface="+mn-lt"/>
              </a:rPr>
              <a:t> maxim.</a:t>
            </a:r>
            <a:endParaRPr lang="en-US" sz="1800" dirty="0"/>
          </a:p>
          <a:p>
            <a:r>
              <a:rPr lang="en-US" sz="1800" b="1" dirty="0" err="1">
                <a:ea typeface="+mn-lt"/>
                <a:cs typeface="+mn-lt"/>
              </a:rPr>
              <a:t>Fără</a:t>
            </a:r>
            <a:r>
              <a:rPr lang="en-US" sz="1800" b="1" dirty="0">
                <a:ea typeface="+mn-lt"/>
                <a:cs typeface="+mn-lt"/>
              </a:rPr>
              <a:t> look-ahead</a:t>
            </a:r>
            <a:endParaRPr lang="en-US" sz="1800" dirty="0"/>
          </a:p>
          <a:p>
            <a:pPr lvl="1"/>
            <a:r>
              <a:rPr lang="en-US" sz="1800" dirty="0">
                <a:ea typeface="+mn-lt"/>
                <a:cs typeface="+mn-lt"/>
              </a:rPr>
              <a:t>Nu </a:t>
            </a:r>
            <a:r>
              <a:rPr lang="en-US" sz="1800" dirty="0" err="1">
                <a:ea typeface="+mn-lt"/>
                <a:cs typeface="+mn-lt"/>
              </a:rPr>
              <a:t>simulează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mutări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viitoare</a:t>
            </a:r>
            <a:r>
              <a:rPr lang="en-US" sz="1800" dirty="0">
                <a:ea typeface="+mn-lt"/>
                <a:cs typeface="+mn-lt"/>
              </a:rPr>
              <a:t>.</a:t>
            </a:r>
          </a:p>
          <a:p>
            <a:pPr lvl="1"/>
            <a:r>
              <a:rPr lang="en-US" sz="1800" dirty="0" err="1">
                <a:ea typeface="+mn-lt"/>
                <a:cs typeface="+mn-lt"/>
              </a:rPr>
              <a:t>Decizia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este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luată</a:t>
            </a:r>
            <a:r>
              <a:rPr lang="en-US" sz="1800" dirty="0">
                <a:ea typeface="+mn-lt"/>
                <a:cs typeface="+mn-lt"/>
              </a:rPr>
              <a:t> de </a:t>
            </a:r>
            <a:r>
              <a:rPr lang="en-US" sz="1800" dirty="0" err="1">
                <a:ea typeface="+mn-lt"/>
                <a:cs typeface="+mn-lt"/>
              </a:rPr>
              <a:t>tipul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strategiei</a:t>
            </a:r>
            <a:r>
              <a:rPr lang="en-US" sz="1800" dirty="0">
                <a:ea typeface="+mn-lt"/>
                <a:cs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8141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92795-BD3D-A0A8-A1DF-798A47B33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Direcții</a:t>
            </a:r>
            <a:r>
              <a:rPr lang="en-US" dirty="0"/>
              <a:t> </a:t>
            </a:r>
            <a:r>
              <a:rPr lang="en-US" dirty="0" err="1"/>
              <a:t>viitoare</a:t>
            </a:r>
            <a:r>
              <a:rPr lang="en-US" dirty="0"/>
              <a:t> de </a:t>
            </a:r>
            <a:r>
              <a:rPr lang="en-US" dirty="0" err="1"/>
              <a:t>îmbunătățire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F4C87-56A0-9994-4675-8A713B354C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2417" y="2311010"/>
            <a:ext cx="4728993" cy="369417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/>
            <a:r>
              <a:rPr lang="en-US" sz="1800" err="1"/>
              <a:t>Evaluare</a:t>
            </a:r>
            <a:r>
              <a:rPr lang="en-US" sz="1800" dirty="0"/>
              <a:t> </a:t>
            </a:r>
            <a:r>
              <a:rPr lang="en-US" sz="1800" err="1"/>
              <a:t>mai</a:t>
            </a:r>
            <a:r>
              <a:rPr lang="en-US" sz="1800" dirty="0"/>
              <a:t> </a:t>
            </a:r>
            <a:r>
              <a:rPr lang="en-US" sz="1800" err="1"/>
              <a:t>adâncă</a:t>
            </a:r>
            <a:r>
              <a:rPr lang="en-US" sz="1800" dirty="0"/>
              <a:t> (look-ahead)</a:t>
            </a:r>
          </a:p>
          <a:p>
            <a:r>
              <a:rPr lang="en-US" sz="1800" err="1"/>
              <a:t>Simularea</a:t>
            </a:r>
            <a:r>
              <a:rPr lang="en-US" sz="1800" dirty="0"/>
              <a:t> a 2–3 </a:t>
            </a:r>
            <a:r>
              <a:rPr lang="en-US" sz="1800" err="1"/>
              <a:t>mutări</a:t>
            </a:r>
            <a:r>
              <a:rPr lang="en-US" sz="1800" dirty="0"/>
              <a:t> </a:t>
            </a:r>
            <a:r>
              <a:rPr lang="en-US" sz="1800" err="1"/>
              <a:t>înainte</a:t>
            </a:r>
            <a:r>
              <a:rPr lang="en-US" sz="1800" dirty="0"/>
              <a:t> </a:t>
            </a:r>
            <a:r>
              <a:rPr lang="en-US" sz="1800" err="1"/>
              <a:t>pentru</a:t>
            </a:r>
            <a:r>
              <a:rPr lang="en-US" sz="1800" dirty="0"/>
              <a:t> </a:t>
            </a:r>
            <a:r>
              <a:rPr lang="en-US" sz="1800" err="1"/>
              <a:t>alegerea</a:t>
            </a:r>
            <a:r>
              <a:rPr lang="en-US" sz="1800" dirty="0"/>
              <a:t> </a:t>
            </a:r>
            <a:r>
              <a:rPr lang="en-US" sz="1800" err="1"/>
              <a:t>celei</a:t>
            </a:r>
            <a:r>
              <a:rPr lang="en-US" sz="1800" dirty="0"/>
              <a:t> </a:t>
            </a:r>
            <a:r>
              <a:rPr lang="en-US" sz="1800" err="1"/>
              <a:t>mai</a:t>
            </a:r>
            <a:r>
              <a:rPr lang="en-US" sz="1800" dirty="0"/>
              <a:t> </a:t>
            </a:r>
            <a:r>
              <a:rPr lang="en-US" sz="1800" err="1"/>
              <a:t>promițătoare</a:t>
            </a:r>
            <a:r>
              <a:rPr lang="en-US" sz="1800" dirty="0"/>
              <a:t>.</a:t>
            </a:r>
          </a:p>
          <a:p>
            <a:r>
              <a:rPr lang="en-US" sz="1800" dirty="0" err="1"/>
              <a:t>Funcție</a:t>
            </a:r>
            <a:r>
              <a:rPr lang="en-US" sz="1800" dirty="0"/>
              <a:t> de </a:t>
            </a:r>
            <a:r>
              <a:rPr lang="en-US" sz="1800" dirty="0" err="1"/>
              <a:t>scor</a:t>
            </a:r>
            <a:r>
              <a:rPr lang="en-US" sz="1800" dirty="0"/>
              <a:t> </a:t>
            </a:r>
            <a:r>
              <a:rPr lang="en-US" sz="1800" dirty="0" err="1"/>
              <a:t>avansată</a:t>
            </a:r>
            <a:endParaRPr lang="en-US" sz="1800" dirty="0"/>
          </a:p>
          <a:p>
            <a:r>
              <a:rPr lang="en-US" sz="1800" err="1"/>
              <a:t>Estimarea</a:t>
            </a:r>
            <a:r>
              <a:rPr lang="en-US" sz="1800" dirty="0"/>
              <a:t> </a:t>
            </a:r>
            <a:r>
              <a:rPr lang="en-US" sz="1800" err="1"/>
              <a:t>numărului</a:t>
            </a:r>
            <a:r>
              <a:rPr lang="en-US" sz="1800" dirty="0"/>
              <a:t> de cascade, </a:t>
            </a:r>
            <a:r>
              <a:rPr lang="en-US" sz="1800" err="1"/>
              <a:t>forme</a:t>
            </a:r>
            <a:r>
              <a:rPr lang="en-US" sz="1800" dirty="0"/>
              <a:t> </a:t>
            </a:r>
            <a:r>
              <a:rPr lang="en-US" sz="1800" err="1"/>
              <a:t>speciale</a:t>
            </a:r>
            <a:r>
              <a:rPr lang="en-US" sz="1800" dirty="0"/>
              <a:t> </a:t>
            </a:r>
            <a:r>
              <a:rPr lang="en-US" sz="1800" err="1"/>
              <a:t>și</a:t>
            </a:r>
            <a:r>
              <a:rPr lang="en-US" sz="1800" dirty="0"/>
              <a:t> </a:t>
            </a:r>
            <a:r>
              <a:rPr lang="en-US" sz="1800" err="1"/>
              <a:t>stabilitatea</a:t>
            </a:r>
            <a:r>
              <a:rPr lang="en-US" sz="1800" dirty="0"/>
              <a:t> </a:t>
            </a:r>
            <a:r>
              <a:rPr lang="en-US" sz="1800" err="1"/>
              <a:t>tablei</a:t>
            </a:r>
            <a:r>
              <a:rPr lang="en-US" sz="1800" dirty="0"/>
              <a:t>.</a:t>
            </a:r>
          </a:p>
          <a:p>
            <a:r>
              <a:rPr lang="en-US" sz="1800" dirty="0" err="1"/>
              <a:t>Căutare</a:t>
            </a:r>
            <a:r>
              <a:rPr lang="en-US" sz="1800" dirty="0"/>
              <a:t> </a:t>
            </a:r>
            <a:r>
              <a:rPr lang="en-US" sz="1800" dirty="0" err="1"/>
              <a:t>heuristică</a:t>
            </a:r>
            <a:endParaRPr lang="en-US" sz="1800" dirty="0"/>
          </a:p>
          <a:p>
            <a:r>
              <a:rPr lang="en-US" sz="1800" err="1"/>
              <a:t>Compararea</a:t>
            </a:r>
            <a:r>
              <a:rPr lang="en-US" sz="1800" dirty="0"/>
              <a:t> </a:t>
            </a:r>
            <a:r>
              <a:rPr lang="en-US" sz="1800" err="1"/>
              <a:t>tuturor</a:t>
            </a:r>
            <a:r>
              <a:rPr lang="en-US" sz="1800" dirty="0"/>
              <a:t> </a:t>
            </a:r>
            <a:r>
              <a:rPr lang="en-US" sz="1800" err="1"/>
              <a:t>mutărilor</a:t>
            </a:r>
            <a:r>
              <a:rPr lang="en-US" sz="1800" dirty="0"/>
              <a:t> </a:t>
            </a:r>
            <a:r>
              <a:rPr lang="en-US" sz="1800" err="1"/>
              <a:t>valide</a:t>
            </a:r>
            <a:r>
              <a:rPr lang="en-US" sz="1800" dirty="0"/>
              <a:t> </a:t>
            </a:r>
            <a:r>
              <a:rPr lang="en-US" sz="1800" err="1"/>
              <a:t>folosind</a:t>
            </a:r>
            <a:r>
              <a:rPr lang="en-US" sz="1800" dirty="0"/>
              <a:t> </a:t>
            </a:r>
            <a:r>
              <a:rPr lang="en-US" sz="1800" err="1"/>
              <a:t>scoruri</a:t>
            </a:r>
            <a:r>
              <a:rPr lang="en-US" sz="1800" dirty="0"/>
              <a:t> estimate.</a:t>
            </a:r>
          </a:p>
          <a:p>
            <a:r>
              <a:rPr lang="en-US" sz="1800" dirty="0" err="1"/>
              <a:t>Învățare</a:t>
            </a:r>
            <a:r>
              <a:rPr lang="en-US" sz="1800" dirty="0"/>
              <a:t> </a:t>
            </a:r>
            <a:r>
              <a:rPr lang="en-US" sz="1800" dirty="0" err="1"/>
              <a:t>automată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A9404A-1296-68A7-11DC-A5CD854F0616}"/>
              </a:ext>
            </a:extLst>
          </p:cNvPr>
          <p:cNvSpPr txBox="1"/>
          <p:nvPr/>
        </p:nvSpPr>
        <p:spPr>
          <a:xfrm>
            <a:off x="6194743" y="2308189"/>
            <a:ext cx="5321471" cy="41857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10000"/>
              </a:lnSpc>
              <a:spcBef>
                <a:spcPts val="1000"/>
              </a:spcBef>
              <a:buFont typeface="Arial"/>
              <a:buChar char="•"/>
            </a:pPr>
            <a:r>
              <a:rPr lang="en-US" err="1"/>
              <a:t>Învățare</a:t>
            </a:r>
            <a:r>
              <a:rPr lang="en-US"/>
              <a:t> </a:t>
            </a:r>
            <a:r>
              <a:rPr lang="en-US" err="1"/>
              <a:t>automată</a:t>
            </a:r>
          </a:p>
          <a:p>
            <a:pPr marL="285750" indent="-285750">
              <a:lnSpc>
                <a:spcPct val="11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Reinforcement Learning </a:t>
            </a:r>
            <a:r>
              <a:rPr lang="en-US" err="1"/>
              <a:t>pentru</a:t>
            </a:r>
            <a:r>
              <a:rPr lang="en-US"/>
              <a:t> </a:t>
            </a:r>
            <a:r>
              <a:rPr lang="en-US" err="1"/>
              <a:t>învățarea</a:t>
            </a:r>
            <a:r>
              <a:rPr lang="en-US"/>
              <a:t> </a:t>
            </a:r>
            <a:r>
              <a:rPr lang="en-US" err="1"/>
              <a:t>unei</a:t>
            </a:r>
            <a:r>
              <a:rPr lang="en-US"/>
              <a:t> </a:t>
            </a:r>
            <a:r>
              <a:rPr lang="en-US" err="1"/>
              <a:t>politici</a:t>
            </a:r>
            <a:r>
              <a:rPr lang="en-US"/>
              <a:t> optime de </a:t>
            </a:r>
            <a:r>
              <a:rPr lang="en-US" err="1"/>
              <a:t>mutări</a:t>
            </a:r>
            <a:r>
              <a:rPr lang="en-US"/>
              <a:t>.</a:t>
            </a:r>
          </a:p>
          <a:p>
            <a:pPr marL="285750" indent="-285750">
              <a:lnSpc>
                <a:spcPct val="110000"/>
              </a:lnSpc>
              <a:spcBef>
                <a:spcPts val="1000"/>
              </a:spcBef>
              <a:buFont typeface="Arial"/>
              <a:buChar char="•"/>
            </a:pPr>
            <a:r>
              <a:rPr lang="en-US" err="1"/>
              <a:t>Optimizări</a:t>
            </a:r>
            <a:r>
              <a:rPr lang="en-US"/>
              <a:t> de </a:t>
            </a:r>
            <a:r>
              <a:rPr lang="en-US" err="1"/>
              <a:t>performanță</a:t>
            </a:r>
          </a:p>
          <a:p>
            <a:pPr marL="285750" indent="-285750">
              <a:lnSpc>
                <a:spcPct val="110000"/>
              </a:lnSpc>
              <a:spcBef>
                <a:spcPts val="1000"/>
              </a:spcBef>
              <a:buFont typeface="Arial"/>
              <a:buChar char="•"/>
            </a:pPr>
            <a:r>
              <a:rPr lang="en-US" err="1"/>
              <a:t>Paralelizare</a:t>
            </a:r>
            <a:r>
              <a:rPr lang="en-US"/>
              <a:t>, pruning, </a:t>
            </a:r>
            <a:r>
              <a:rPr lang="en-US" err="1"/>
              <a:t>simulări</a:t>
            </a:r>
            <a:r>
              <a:rPr lang="en-US"/>
              <a:t> Monte Carlo.</a:t>
            </a:r>
          </a:p>
          <a:p>
            <a:pPr marL="285750" indent="-285750">
              <a:lnSpc>
                <a:spcPct val="110000"/>
              </a:lnSpc>
              <a:spcBef>
                <a:spcPts val="1000"/>
              </a:spcBef>
              <a:buFont typeface="Arial"/>
              <a:buChar char="•"/>
            </a:pPr>
            <a:r>
              <a:rPr lang="en-US" err="1"/>
              <a:t>Analiză</a:t>
            </a:r>
            <a:r>
              <a:rPr lang="en-US"/>
              <a:t> </a:t>
            </a:r>
            <a:r>
              <a:rPr lang="en-US" err="1"/>
              <a:t>statistică</a:t>
            </a:r>
            <a:r>
              <a:rPr lang="en-US"/>
              <a:t> </a:t>
            </a:r>
            <a:r>
              <a:rPr lang="en-US" err="1"/>
              <a:t>extinsă</a:t>
            </a:r>
          </a:p>
          <a:p>
            <a:pPr marL="285750" indent="-285750">
              <a:lnSpc>
                <a:spcPct val="110000"/>
              </a:lnSpc>
              <a:spcBef>
                <a:spcPts val="1000"/>
              </a:spcBef>
              <a:buFont typeface="Arial"/>
              <a:buChar char="•"/>
            </a:pPr>
            <a:r>
              <a:rPr lang="en-US" err="1"/>
              <a:t>Testarea</a:t>
            </a:r>
            <a:r>
              <a:rPr lang="en-US"/>
              <a:t> pe mii de </a:t>
            </a:r>
            <a:r>
              <a:rPr lang="en-US" err="1"/>
              <a:t>jocuri</a:t>
            </a:r>
            <a:r>
              <a:rPr lang="en-US"/>
              <a:t> </a:t>
            </a:r>
            <a:r>
              <a:rPr lang="en-US" err="1"/>
              <a:t>și</a:t>
            </a:r>
            <a:r>
              <a:rPr lang="en-US"/>
              <a:t> pe </a:t>
            </a:r>
            <a:r>
              <a:rPr lang="en-US" err="1"/>
              <a:t>dimensiuni</a:t>
            </a:r>
            <a:r>
              <a:rPr lang="en-US"/>
              <a:t> variate de </a:t>
            </a:r>
            <a:r>
              <a:rPr lang="en-US" err="1"/>
              <a:t>tablă</a:t>
            </a:r>
            <a:r>
              <a:rPr lang="en-US"/>
              <a:t>.</a:t>
            </a:r>
          </a:p>
          <a:p>
            <a:pPr marL="285750" indent="-285750">
              <a:lnSpc>
                <a:spcPct val="110000"/>
              </a:lnSpc>
              <a:spcBef>
                <a:spcPts val="1000"/>
              </a:spcBef>
              <a:buFont typeface="Arial"/>
              <a:buChar char="•"/>
            </a:pPr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989463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AccentBoxVTI</vt:lpstr>
      <vt:lpstr>Candy Crush</vt:lpstr>
      <vt:lpstr>Scopul jocului </vt:lpstr>
      <vt:lpstr>Funcționare</vt:lpstr>
      <vt:lpstr>PowerPoint Presentation</vt:lpstr>
      <vt:lpstr>PowerPoint Presentation</vt:lpstr>
      <vt:lpstr>Strategia de joc</vt:lpstr>
      <vt:lpstr>Direcții viitoare de îmbunătățire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246</cp:revision>
  <dcterms:created xsi:type="dcterms:W3CDTF">2025-12-11T16:10:49Z</dcterms:created>
  <dcterms:modified xsi:type="dcterms:W3CDTF">2025-12-15T15:03:04Z</dcterms:modified>
</cp:coreProperties>
</file>